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Mulish"/>
      <p:regular r:id="rId15"/>
      <p:bold r:id="rId16"/>
      <p:italic r:id="rId17"/>
      <p:boldItalic r:id="rId18"/>
    </p:embeddedFont>
    <p:embeddedFont>
      <p:font typeface="Fjalla One"/>
      <p:regular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0" roundtripDataSignature="AMtx7mgwqTjqg2N67EPpJ7bdk7rahLuv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ulish-regular.fntdata"/><Relationship Id="rId14" Type="http://schemas.openxmlformats.org/officeDocument/2006/relationships/slide" Target="slides/slide9.xml"/><Relationship Id="rId17" Type="http://schemas.openxmlformats.org/officeDocument/2006/relationships/font" Target="fonts/Mulish-italic.fntdata"/><Relationship Id="rId16" Type="http://schemas.openxmlformats.org/officeDocument/2006/relationships/font" Target="fonts/Mulish-bold.fntdata"/><Relationship Id="rId5" Type="http://schemas.openxmlformats.org/officeDocument/2006/relationships/notesMaster" Target="notesMasters/notesMaster1.xml"/><Relationship Id="rId19" Type="http://schemas.openxmlformats.org/officeDocument/2006/relationships/font" Target="fonts/FjallaOne-regular.fntdata"/><Relationship Id="rId6" Type="http://schemas.openxmlformats.org/officeDocument/2006/relationships/slide" Target="slides/slide1.xml"/><Relationship Id="rId18" Type="http://schemas.openxmlformats.org/officeDocument/2006/relationships/font" Target="fonts/Mulish-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84f0212a2b3d31d_7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h84f0212a2b3d31d_7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h84f0212a2b3d31d_9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h84f0212a2b3d31d_9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1792288" y="612775"/>
            <a:ext cx="5486400" cy="4114800"/>
          </a:xfrm>
          <a:prstGeom prst="rect">
            <a:avLst/>
          </a:prstGeom>
          <a:noFill/>
          <a:ln>
            <a:noFill/>
          </a:ln>
        </p:spPr>
      </p:sp>
      <p:sp>
        <p:nvSpPr>
          <p:cNvPr id="64" name="Google Shape;64;p1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2191700" cy="6858000"/>
          </a:xfrm>
          <a:prstGeom prst="rect">
            <a:avLst/>
          </a:prstGeom>
          <a:solidFill>
            <a:srgbClr val="FFFFF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 name="Google Shape;85;p1"/>
          <p:cNvSpPr/>
          <p:nvPr/>
        </p:nvSpPr>
        <p:spPr>
          <a:xfrm>
            <a:off x="-182880" y="2194560"/>
            <a:ext cx="1051500" cy="329100"/>
          </a:xfrm>
          <a:prstGeom prst="roundRect">
            <a:avLst>
              <a:gd fmla="val 50000" name="adj"/>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6" name="Google Shape;86;p1"/>
          <p:cNvSpPr/>
          <p:nvPr/>
        </p:nvSpPr>
        <p:spPr>
          <a:xfrm>
            <a:off x="-182880" y="2596896"/>
            <a:ext cx="1463100" cy="329100"/>
          </a:xfrm>
          <a:prstGeom prst="roundRect">
            <a:avLst>
              <a:gd fmla="val 50000" name="adj"/>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7" name="Google Shape;87;p1"/>
          <p:cNvSpPr/>
          <p:nvPr/>
        </p:nvSpPr>
        <p:spPr>
          <a:xfrm>
            <a:off x="-182880" y="2999232"/>
            <a:ext cx="1051500" cy="329100"/>
          </a:xfrm>
          <a:prstGeom prst="roundRect">
            <a:avLst>
              <a:gd fmla="val 50000" name="adj"/>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8" name="Google Shape;88;p1"/>
          <p:cNvSpPr/>
          <p:nvPr/>
        </p:nvSpPr>
        <p:spPr>
          <a:xfrm>
            <a:off x="11521440" y="5486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
          <p:cNvSpPr/>
          <p:nvPr/>
        </p:nvSpPr>
        <p:spPr>
          <a:xfrm>
            <a:off x="11521440" y="7132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0" name="Google Shape;90;p1"/>
          <p:cNvSpPr/>
          <p:nvPr/>
        </p:nvSpPr>
        <p:spPr>
          <a:xfrm>
            <a:off x="11521440" y="8778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 name="Google Shape;91;p1"/>
          <p:cNvSpPr/>
          <p:nvPr/>
        </p:nvSpPr>
        <p:spPr>
          <a:xfrm>
            <a:off x="11521440" y="10424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2" name="Google Shape;92;p1"/>
          <p:cNvSpPr/>
          <p:nvPr/>
        </p:nvSpPr>
        <p:spPr>
          <a:xfrm>
            <a:off x="548640" y="55778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1"/>
          <p:cNvSpPr/>
          <p:nvPr/>
        </p:nvSpPr>
        <p:spPr>
          <a:xfrm>
            <a:off x="548640" y="57424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1"/>
          <p:cNvSpPr/>
          <p:nvPr/>
        </p:nvSpPr>
        <p:spPr>
          <a:xfrm>
            <a:off x="548640" y="59070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5" name="Google Shape;95;p1"/>
          <p:cNvSpPr/>
          <p:nvPr/>
        </p:nvSpPr>
        <p:spPr>
          <a:xfrm>
            <a:off x="548640" y="60716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6" name="Google Shape;96;p1"/>
          <p:cNvSpPr/>
          <p:nvPr/>
        </p:nvSpPr>
        <p:spPr>
          <a:xfrm>
            <a:off x="11087100" y="5934075"/>
            <a:ext cx="3201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7" name="Google Shape;97;p1"/>
          <p:cNvSpPr/>
          <p:nvPr/>
        </p:nvSpPr>
        <p:spPr>
          <a:xfrm>
            <a:off x="11237595" y="5783580"/>
            <a:ext cx="19200" cy="3201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 name="Google Shape;98;p1"/>
          <p:cNvSpPr/>
          <p:nvPr/>
        </p:nvSpPr>
        <p:spPr>
          <a:xfrm>
            <a:off x="11192256" y="5888736"/>
            <a:ext cx="109800" cy="1098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1"/>
          <p:cNvSpPr/>
          <p:nvPr/>
        </p:nvSpPr>
        <p:spPr>
          <a:xfrm>
            <a:off x="9601200" y="640080"/>
            <a:ext cx="1097400" cy="822900"/>
          </a:xfrm>
          <a:prstGeom prst="arc">
            <a:avLst>
              <a:gd fmla="val 16200000" name="adj1"/>
              <a:gd fmla="val 0" name="adj2"/>
            </a:avLst>
          </a:prstGeom>
          <a:noFill/>
          <a:ln cap="flat" cmpd="sng" w="19050">
            <a:solidFill>
              <a:srgbClr val="079ED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0" name="Google Shape;100;p1"/>
          <p:cNvSpPr/>
          <p:nvPr/>
        </p:nvSpPr>
        <p:spPr>
          <a:xfrm>
            <a:off x="9560052" y="101041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1" name="Google Shape;101;p1"/>
          <p:cNvSpPr/>
          <p:nvPr/>
        </p:nvSpPr>
        <p:spPr>
          <a:xfrm>
            <a:off x="10657332" y="59893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 name="Google Shape;102;p1"/>
          <p:cNvSpPr/>
          <p:nvPr/>
        </p:nvSpPr>
        <p:spPr>
          <a:xfrm>
            <a:off x="1463040" y="5303520"/>
            <a:ext cx="1005900" cy="731400"/>
          </a:xfrm>
          <a:prstGeom prst="arc">
            <a:avLst>
              <a:gd fmla="val 16200000" name="adj1"/>
              <a:gd fmla="val 0" name="adj2"/>
            </a:avLst>
          </a:prstGeom>
          <a:noFill/>
          <a:ln cap="flat" cmpd="sng" w="19050">
            <a:solidFill>
              <a:srgbClr val="079ED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 name="Google Shape;103;p1"/>
          <p:cNvSpPr/>
          <p:nvPr/>
        </p:nvSpPr>
        <p:spPr>
          <a:xfrm>
            <a:off x="1421892" y="562813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4" name="Google Shape;104;p1"/>
          <p:cNvSpPr/>
          <p:nvPr/>
        </p:nvSpPr>
        <p:spPr>
          <a:xfrm>
            <a:off x="2427732" y="526237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1"/>
          <p:cNvSpPr/>
          <p:nvPr/>
        </p:nvSpPr>
        <p:spPr>
          <a:xfrm rot="10800000">
            <a:off x="1645776" y="759084"/>
            <a:ext cx="219600" cy="255900"/>
          </a:xfrm>
          <a:prstGeom prst="triangle">
            <a:avLst>
              <a:gd fmla="val 50000" name="adj"/>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1"/>
          <p:cNvSpPr/>
          <p:nvPr/>
        </p:nvSpPr>
        <p:spPr>
          <a:xfrm>
            <a:off x="1673352" y="685800"/>
            <a:ext cx="164700" cy="91500"/>
          </a:xfrm>
          <a:prstGeom prst="roundRect">
            <a:avLst>
              <a:gd fmla="val 20000" name="adj"/>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7" name="Google Shape;107;p1"/>
          <p:cNvSpPr/>
          <p:nvPr/>
        </p:nvSpPr>
        <p:spPr>
          <a:xfrm>
            <a:off x="1732788" y="822960"/>
            <a:ext cx="45600" cy="45600"/>
          </a:xfrm>
          <a:prstGeom prst="ellipse">
            <a:avLst/>
          </a:prstGeom>
          <a:solidFill>
            <a:srgbClr val="FFFFF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 name="Google Shape;108;p1"/>
          <p:cNvSpPr/>
          <p:nvPr/>
        </p:nvSpPr>
        <p:spPr>
          <a:xfrm>
            <a:off x="1751076" y="868680"/>
            <a:ext cx="19200" cy="137100"/>
          </a:xfrm>
          <a:prstGeom prst="rect">
            <a:avLst/>
          </a:prstGeom>
          <a:solidFill>
            <a:srgbClr val="FFFFF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1"/>
          <p:cNvSpPr txBox="1"/>
          <p:nvPr/>
        </p:nvSpPr>
        <p:spPr>
          <a:xfrm>
            <a:off x="1645920" y="1078992"/>
            <a:ext cx="9144000" cy="1554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600" u="none" cap="none" strike="noStrike">
                <a:solidFill>
                  <a:srgbClr val="353334"/>
                </a:solidFill>
                <a:latin typeface="Fjalla One"/>
                <a:ea typeface="Fjalla One"/>
                <a:cs typeface="Fjalla One"/>
                <a:sym typeface="Fjalla One"/>
              </a:rPr>
              <a:t>DATAQUEST 3.0</a:t>
            </a:r>
            <a:endParaRPr/>
          </a:p>
          <a:p>
            <a:pPr indent="0" lvl="0" marL="0" marR="0" rtl="0" algn="l">
              <a:spcBef>
                <a:spcPts val="200"/>
              </a:spcBef>
              <a:spcAft>
                <a:spcPts val="0"/>
              </a:spcAft>
              <a:buNone/>
            </a:pPr>
            <a:r>
              <a:rPr b="1" i="0" lang="en-US" sz="3200" u="none" cap="none" strike="noStrike">
                <a:solidFill>
                  <a:srgbClr val="FD1485"/>
                </a:solidFill>
                <a:latin typeface="Fjalla One"/>
                <a:ea typeface="Fjalla One"/>
                <a:cs typeface="Fjalla One"/>
                <a:sym typeface="Fjalla One"/>
              </a:rPr>
              <a:t>ROUND 1</a:t>
            </a:r>
            <a:endParaRPr/>
          </a:p>
        </p:txBody>
      </p:sp>
      <p:sp>
        <p:nvSpPr>
          <p:cNvPr id="110" name="Google Shape;110;p1"/>
          <p:cNvSpPr/>
          <p:nvPr/>
        </p:nvSpPr>
        <p:spPr>
          <a:xfrm>
            <a:off x="1645920" y="2578608"/>
            <a:ext cx="94182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 name="Google Shape;111;p1"/>
          <p:cNvSpPr txBox="1"/>
          <p:nvPr/>
        </p:nvSpPr>
        <p:spPr>
          <a:xfrm>
            <a:off x="1645920" y="2670048"/>
            <a:ext cx="9418200" cy="32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353334"/>
                </a:solidFill>
                <a:latin typeface="Mulish"/>
                <a:ea typeface="Mulish"/>
                <a:cs typeface="Mulish"/>
                <a:sym typeface="Mulish"/>
              </a:rPr>
              <a:t>OFFICIAL PARTICIPANT PPT TEMPLATE</a:t>
            </a:r>
            <a:endParaRPr/>
          </a:p>
        </p:txBody>
      </p:sp>
      <p:sp>
        <p:nvSpPr>
          <p:cNvPr id="112" name="Google Shape;112;p1"/>
          <p:cNvSpPr/>
          <p:nvPr/>
        </p:nvSpPr>
        <p:spPr>
          <a:xfrm>
            <a:off x="1645920" y="3246120"/>
            <a:ext cx="4572000" cy="29262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3" name="Google Shape;113;p1"/>
          <p:cNvSpPr/>
          <p:nvPr/>
        </p:nvSpPr>
        <p:spPr>
          <a:xfrm>
            <a:off x="1965960" y="3118104"/>
            <a:ext cx="1600200" cy="255900"/>
          </a:xfrm>
          <a:prstGeom prst="roundRect">
            <a:avLst>
              <a:gd fmla="val 50000" name="adj"/>
            </a:avLst>
          </a:prstGeom>
          <a:solidFill>
            <a:srgbClr val="079ED2"/>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i="0" lang="en-US" sz="850" u="none" cap="none" strike="noStrike">
                <a:solidFill>
                  <a:srgbClr val="FFFFFF"/>
                </a:solidFill>
                <a:latin typeface="Mulish"/>
                <a:ea typeface="Mulish"/>
                <a:cs typeface="Mulish"/>
                <a:sym typeface="Mulish"/>
              </a:rPr>
              <a:t>PROJECT DETAILS</a:t>
            </a:r>
            <a:endParaRPr/>
          </a:p>
        </p:txBody>
      </p:sp>
      <p:sp>
        <p:nvSpPr>
          <p:cNvPr id="114" name="Google Shape;114;p1"/>
          <p:cNvSpPr txBox="1"/>
          <p:nvPr/>
        </p:nvSpPr>
        <p:spPr>
          <a:xfrm>
            <a:off x="1920240" y="3520440"/>
            <a:ext cx="4023300" cy="252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53334"/>
                </a:solidFill>
                <a:latin typeface="Fjalla One"/>
                <a:ea typeface="Fjalla One"/>
                <a:cs typeface="Fjalla One"/>
                <a:sym typeface="Fjalla One"/>
              </a:rPr>
              <a:t>PROJECT TITLE</a:t>
            </a:r>
            <a:endParaRPr/>
          </a:p>
          <a:p>
            <a:pPr indent="0" lvl="0" marL="0" marR="0" rtl="0" algn="l">
              <a:spcBef>
                <a:spcPts val="200"/>
              </a:spcBef>
              <a:spcAft>
                <a:spcPts val="0"/>
              </a:spcAft>
              <a:buNone/>
            </a:pPr>
            <a:r>
              <a:rPr b="1" i="0" lang="en-US" sz="1600" u="none" cap="none" strike="noStrike">
                <a:solidFill>
                  <a:srgbClr val="FD1485"/>
                </a:solidFill>
                <a:latin typeface="Fjalla One"/>
                <a:ea typeface="Fjalla One"/>
                <a:cs typeface="Fjalla One"/>
                <a:sym typeface="Fjalla One"/>
              </a:rPr>
              <a:t>AI POWERED EMP</a:t>
            </a:r>
            <a:r>
              <a:rPr b="1" lang="en-US" sz="1600">
                <a:solidFill>
                  <a:srgbClr val="FD1485"/>
                </a:solidFill>
                <a:latin typeface="Fjalla One"/>
                <a:ea typeface="Fjalla One"/>
                <a:cs typeface="Fjalla One"/>
                <a:sym typeface="Fjalla One"/>
              </a:rPr>
              <a:t>LOYABILITY AND CAREER READINESS ANALYZER</a:t>
            </a:r>
            <a:endParaRPr/>
          </a:p>
          <a:p>
            <a:pPr indent="0" lvl="0" marL="0" marR="0" rtl="0" algn="l">
              <a:spcBef>
                <a:spcPts val="1000"/>
              </a:spcBef>
              <a:spcAft>
                <a:spcPts val="0"/>
              </a:spcAft>
              <a:buNone/>
            </a:pPr>
            <a:r>
              <a:rPr b="1" i="0" lang="en-US" sz="1100" u="none" cap="none" strike="noStrike">
                <a:solidFill>
                  <a:srgbClr val="353334"/>
                </a:solidFill>
                <a:latin typeface="Fjalla One"/>
                <a:ea typeface="Fjalla One"/>
                <a:cs typeface="Fjalla One"/>
                <a:sym typeface="Fjalla One"/>
              </a:rPr>
              <a:t>ONE-LINE PITCH</a:t>
            </a:r>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Mulish"/>
                <a:ea typeface="Mulish"/>
                <a:cs typeface="Mulish"/>
                <a:sym typeface="Mulish"/>
              </a:rPr>
              <a:t>CareerLens is an AI-powered career guidance platform that matches students’ skills and interests with suitable job roles, identifies skill gaps, and provides a personalized roadmap to become job-ready.</a:t>
            </a:r>
            <a:endParaRPr sz="1100">
              <a:solidFill>
                <a:schemeClr val="dk1"/>
              </a:solidFill>
              <a:latin typeface="Mulish"/>
              <a:ea typeface="Mulish"/>
              <a:cs typeface="Mulish"/>
              <a:sym typeface="Mulish"/>
            </a:endParaRPr>
          </a:p>
          <a:p>
            <a:pPr indent="0" lvl="0" marL="0" marR="0" rtl="0" algn="l">
              <a:spcBef>
                <a:spcPts val="1200"/>
              </a:spcBef>
              <a:spcAft>
                <a:spcPts val="0"/>
              </a:spcAft>
              <a:buNone/>
            </a:pPr>
            <a:r>
              <a:rPr b="1" i="0" lang="en-US" sz="1100" u="none" cap="none" strike="noStrike">
                <a:solidFill>
                  <a:srgbClr val="353334"/>
                </a:solidFill>
                <a:latin typeface="Fjalla One"/>
                <a:ea typeface="Fjalla One"/>
                <a:cs typeface="Fjalla One"/>
                <a:sym typeface="Fjalla One"/>
              </a:rPr>
              <a:t>TRACK</a:t>
            </a:r>
            <a:endParaRPr/>
          </a:p>
          <a:p>
            <a:pPr indent="0" lvl="0" marL="0" marR="0" rtl="0" algn="l">
              <a:spcBef>
                <a:spcPts val="200"/>
              </a:spcBef>
              <a:spcAft>
                <a:spcPts val="0"/>
              </a:spcAft>
              <a:buNone/>
            </a:pPr>
            <a:r>
              <a:rPr b="1" lang="en-US" sz="1050">
                <a:solidFill>
                  <a:srgbClr val="079ED2"/>
                </a:solidFill>
                <a:latin typeface="Mulish"/>
                <a:ea typeface="Mulish"/>
                <a:cs typeface="Mulish"/>
                <a:sym typeface="Mulish"/>
              </a:rPr>
              <a:t>DQWL </a:t>
            </a:r>
            <a:endParaRPr/>
          </a:p>
        </p:txBody>
      </p:sp>
      <p:sp>
        <p:nvSpPr>
          <p:cNvPr id="115" name="Google Shape;115;p1"/>
          <p:cNvSpPr/>
          <p:nvPr/>
        </p:nvSpPr>
        <p:spPr>
          <a:xfrm>
            <a:off x="6492240" y="3246120"/>
            <a:ext cx="4572000" cy="29262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6" name="Google Shape;116;p1"/>
          <p:cNvSpPr/>
          <p:nvPr/>
        </p:nvSpPr>
        <p:spPr>
          <a:xfrm>
            <a:off x="6812280" y="3118104"/>
            <a:ext cx="1600200" cy="255900"/>
          </a:xfrm>
          <a:prstGeom prst="roundRect">
            <a:avLst>
              <a:gd fmla="val 50000" name="adj"/>
            </a:avLst>
          </a:prstGeom>
          <a:solidFill>
            <a:srgbClr val="FFB903"/>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i="0" lang="en-US" sz="850" u="none" cap="none" strike="noStrike">
                <a:solidFill>
                  <a:srgbClr val="353334"/>
                </a:solidFill>
                <a:latin typeface="Mulish"/>
                <a:ea typeface="Mulish"/>
                <a:cs typeface="Mulish"/>
                <a:sym typeface="Mulish"/>
              </a:rPr>
              <a:t>TEAM &amp; MEMBERS</a:t>
            </a:r>
            <a:endParaRPr/>
          </a:p>
        </p:txBody>
      </p:sp>
      <p:sp>
        <p:nvSpPr>
          <p:cNvPr id="117" name="Google Shape;117;p1"/>
          <p:cNvSpPr txBox="1"/>
          <p:nvPr/>
        </p:nvSpPr>
        <p:spPr>
          <a:xfrm>
            <a:off x="6766550" y="3520448"/>
            <a:ext cx="4023300" cy="307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53334"/>
                </a:solidFill>
                <a:latin typeface="Fjalla One"/>
                <a:ea typeface="Fjalla One"/>
                <a:cs typeface="Fjalla One"/>
                <a:sym typeface="Fjalla One"/>
              </a:rPr>
              <a:t>TEAM</a:t>
            </a:r>
            <a:endParaRPr/>
          </a:p>
          <a:p>
            <a:pPr indent="0" lvl="0" marL="0" marR="0" rtl="0" algn="l">
              <a:spcBef>
                <a:spcPts val="200"/>
              </a:spcBef>
              <a:spcAft>
                <a:spcPts val="0"/>
              </a:spcAft>
              <a:buNone/>
            </a:pPr>
            <a:r>
              <a:rPr b="1" lang="en-US" sz="1600">
                <a:solidFill>
                  <a:srgbClr val="353334"/>
                </a:solidFill>
                <a:latin typeface="Fjalla One"/>
                <a:ea typeface="Fjalla One"/>
                <a:cs typeface="Fjalla One"/>
                <a:sym typeface="Fjalla One"/>
              </a:rPr>
              <a:t>SheCodes</a:t>
            </a:r>
            <a:r>
              <a:rPr b="1" i="0" lang="en-US" sz="1600" u="none" cap="none" strike="noStrike">
                <a:solidFill>
                  <a:srgbClr val="353334"/>
                </a:solidFill>
                <a:latin typeface="Fjalla One"/>
                <a:ea typeface="Fjalla One"/>
                <a:cs typeface="Fjalla One"/>
                <a:sym typeface="Fjalla One"/>
              </a:rPr>
              <a:t> </a:t>
            </a:r>
            <a:endParaRPr/>
          </a:p>
          <a:p>
            <a:pPr indent="0" lvl="0" marL="0" marR="0" rtl="0" algn="l">
              <a:spcBef>
                <a:spcPts val="1000"/>
              </a:spcBef>
              <a:spcAft>
                <a:spcPts val="0"/>
              </a:spcAft>
              <a:buNone/>
            </a:pPr>
            <a:r>
              <a:rPr b="1" i="0" lang="en-US" sz="1100" u="none" cap="none" strike="noStrike">
                <a:solidFill>
                  <a:srgbClr val="353334"/>
                </a:solidFill>
                <a:latin typeface="Fjalla One"/>
                <a:ea typeface="Fjalla One"/>
                <a:cs typeface="Fjalla One"/>
                <a:sym typeface="Fjalla One"/>
              </a:rPr>
              <a:t>PARTICIPANTS</a:t>
            </a:r>
            <a:endParaRPr/>
          </a:p>
          <a:p>
            <a:pPr indent="-295275" lvl="0" marL="457200" marR="0" rtl="0" algn="l">
              <a:spcBef>
                <a:spcPts val="1000"/>
              </a:spcBef>
              <a:spcAft>
                <a:spcPts val="0"/>
              </a:spcAft>
              <a:buClr>
                <a:srgbClr val="3C3C41"/>
              </a:buClr>
              <a:buSzPts val="1050"/>
              <a:buFont typeface="Mulish"/>
              <a:buChar char="●"/>
            </a:pPr>
            <a:r>
              <a:rPr b="0" i="0" lang="en-US" sz="1050" u="none" cap="none" strike="noStrike">
                <a:solidFill>
                  <a:srgbClr val="3C3C41"/>
                </a:solidFill>
                <a:latin typeface="Mulish"/>
                <a:ea typeface="Mulish"/>
                <a:cs typeface="Mulish"/>
                <a:sym typeface="Mulish"/>
              </a:rPr>
              <a:t> </a:t>
            </a:r>
            <a:r>
              <a:rPr lang="en-US" sz="1050">
                <a:solidFill>
                  <a:srgbClr val="3C3C41"/>
                </a:solidFill>
                <a:latin typeface="Mulish"/>
                <a:ea typeface="Mulish"/>
                <a:cs typeface="Mulish"/>
                <a:sym typeface="Mulish"/>
              </a:rPr>
              <a:t>Pooja Sriram</a:t>
            </a:r>
            <a:r>
              <a:rPr b="0" i="0" lang="en-US" sz="1050" u="none" cap="none" strike="noStrike">
                <a:solidFill>
                  <a:srgbClr val="3C3C41"/>
                </a:solidFill>
                <a:latin typeface="Mulish"/>
                <a:ea typeface="Mulish"/>
                <a:cs typeface="Mulish"/>
                <a:sym typeface="Mulish"/>
              </a:rPr>
              <a:t> </a:t>
            </a:r>
            <a:endParaRPr sz="1050">
              <a:solidFill>
                <a:srgbClr val="3C3C41"/>
              </a:solidFill>
              <a:latin typeface="Mulish"/>
              <a:ea typeface="Mulish"/>
              <a:cs typeface="Mulish"/>
              <a:sym typeface="Mulish"/>
            </a:endParaRPr>
          </a:p>
          <a:p>
            <a:pPr indent="-295275" lvl="0" marL="457200" marR="0" rtl="0" algn="l">
              <a:spcBef>
                <a:spcPts val="0"/>
              </a:spcBef>
              <a:spcAft>
                <a:spcPts val="0"/>
              </a:spcAft>
              <a:buClr>
                <a:srgbClr val="3C3C41"/>
              </a:buClr>
              <a:buSzPts val="1050"/>
              <a:buFont typeface="Mulish"/>
              <a:buChar char="●"/>
            </a:pPr>
            <a:r>
              <a:rPr b="0" i="0" lang="en-US" sz="1050" u="none" cap="none" strike="noStrike">
                <a:solidFill>
                  <a:srgbClr val="3C3C41"/>
                </a:solidFill>
                <a:latin typeface="Mulish"/>
                <a:ea typeface="Mulish"/>
                <a:cs typeface="Mulish"/>
                <a:sym typeface="Mulish"/>
              </a:rPr>
              <a:t> </a:t>
            </a:r>
            <a:r>
              <a:rPr lang="en-US" sz="1050">
                <a:solidFill>
                  <a:srgbClr val="3C3C41"/>
                </a:solidFill>
                <a:latin typeface="Mulish"/>
                <a:ea typeface="Mulish"/>
                <a:cs typeface="Mulish"/>
                <a:sym typeface="Mulish"/>
              </a:rPr>
              <a:t>Nayana Priya</a:t>
            </a:r>
            <a:endParaRPr/>
          </a:p>
          <a:p>
            <a:pPr indent="-295275" lvl="0" marL="457200" marR="0" rtl="0" algn="l">
              <a:spcBef>
                <a:spcPts val="0"/>
              </a:spcBef>
              <a:spcAft>
                <a:spcPts val="0"/>
              </a:spcAft>
              <a:buClr>
                <a:srgbClr val="3C3C41"/>
              </a:buClr>
              <a:buSzPts val="1050"/>
              <a:buFont typeface="Mulish"/>
              <a:buChar char="●"/>
            </a:pPr>
            <a:r>
              <a:rPr lang="en-US" sz="1050">
                <a:solidFill>
                  <a:srgbClr val="3C3C41"/>
                </a:solidFill>
                <a:latin typeface="Mulish"/>
                <a:ea typeface="Mulish"/>
                <a:cs typeface="Mulish"/>
                <a:sym typeface="Mulish"/>
              </a:rPr>
              <a:t> </a:t>
            </a:r>
            <a:r>
              <a:rPr lang="en-US" sz="1050">
                <a:solidFill>
                  <a:srgbClr val="3C3C41"/>
                </a:solidFill>
                <a:latin typeface="Mulish"/>
                <a:ea typeface="Mulish"/>
                <a:cs typeface="Mulish"/>
                <a:sym typeface="Mulish"/>
              </a:rPr>
              <a:t>Harshini</a:t>
            </a:r>
            <a:r>
              <a:rPr b="0" i="0" lang="en-US" sz="1050" u="none" cap="none" strike="noStrike">
                <a:solidFill>
                  <a:srgbClr val="3C3C41"/>
                </a:solidFill>
                <a:latin typeface="Mulish"/>
                <a:ea typeface="Mulish"/>
                <a:cs typeface="Mulish"/>
                <a:sym typeface="Mulish"/>
              </a:rPr>
              <a:t> K</a:t>
            </a:r>
            <a:endParaRPr/>
          </a:p>
          <a:p>
            <a:pPr indent="-295275" lvl="0" marL="457200" marR="0" rtl="0" algn="l">
              <a:spcBef>
                <a:spcPts val="0"/>
              </a:spcBef>
              <a:spcAft>
                <a:spcPts val="0"/>
              </a:spcAft>
              <a:buClr>
                <a:srgbClr val="3C3C41"/>
              </a:buClr>
              <a:buSzPts val="1050"/>
              <a:buFont typeface="Mulish"/>
              <a:buChar char="●"/>
            </a:pPr>
            <a:r>
              <a:rPr lang="en-US" sz="1050">
                <a:solidFill>
                  <a:srgbClr val="3C3C41"/>
                </a:solidFill>
                <a:latin typeface="Mulish"/>
                <a:ea typeface="Mulish"/>
                <a:cs typeface="Mulish"/>
                <a:sym typeface="Mulish"/>
              </a:rPr>
              <a:t> </a:t>
            </a:r>
            <a:r>
              <a:rPr lang="en-US" sz="1050">
                <a:solidFill>
                  <a:srgbClr val="3C3C41"/>
                </a:solidFill>
                <a:latin typeface="Mulish"/>
                <a:ea typeface="Mulish"/>
                <a:cs typeface="Mulish"/>
                <a:sym typeface="Mulish"/>
              </a:rPr>
              <a:t>Shreya</a:t>
            </a:r>
            <a:r>
              <a:rPr b="0" i="0" lang="en-US" sz="1050" u="none" cap="none" strike="noStrike">
                <a:solidFill>
                  <a:srgbClr val="3C3C41"/>
                </a:solidFill>
                <a:latin typeface="Mulish"/>
                <a:ea typeface="Mulish"/>
                <a:cs typeface="Mulish"/>
                <a:sym typeface="Mulish"/>
              </a:rPr>
              <a:t> </a:t>
            </a:r>
            <a:r>
              <a:rPr lang="en-US" sz="1050">
                <a:solidFill>
                  <a:srgbClr val="3C3C41"/>
                </a:solidFill>
                <a:latin typeface="Mulish"/>
                <a:ea typeface="Mulish"/>
                <a:cs typeface="Mulish"/>
                <a:sym typeface="Mulish"/>
              </a:rPr>
              <a:t>Balakrishnan</a:t>
            </a:r>
            <a:endParaRPr sz="1050">
              <a:solidFill>
                <a:srgbClr val="3C3C41"/>
              </a:solidFill>
              <a:latin typeface="Mulish"/>
              <a:ea typeface="Mulish"/>
              <a:cs typeface="Mulish"/>
              <a:sym typeface="Mulish"/>
            </a:endParaRPr>
          </a:p>
          <a:p>
            <a:pPr indent="-295275" lvl="0" marL="457200" marR="0" rtl="0" algn="l">
              <a:spcBef>
                <a:spcPts val="0"/>
              </a:spcBef>
              <a:spcAft>
                <a:spcPts val="0"/>
              </a:spcAft>
              <a:buClr>
                <a:srgbClr val="3C3C41"/>
              </a:buClr>
              <a:buSzPts val="1050"/>
              <a:buFont typeface="Mulish"/>
              <a:buChar char="●"/>
            </a:pPr>
            <a:r>
              <a:rPr lang="en-US" sz="1050">
                <a:solidFill>
                  <a:srgbClr val="3C3C41"/>
                </a:solidFill>
                <a:latin typeface="Mulish"/>
                <a:ea typeface="Mulish"/>
                <a:cs typeface="Mulish"/>
                <a:sym typeface="Mulish"/>
              </a:rPr>
              <a:t> Pranamitha B Nair</a:t>
            </a:r>
            <a:endParaRPr sz="1050">
              <a:solidFill>
                <a:srgbClr val="3C3C41"/>
              </a:solidFill>
              <a:latin typeface="Mulish"/>
              <a:ea typeface="Mulish"/>
              <a:cs typeface="Mulish"/>
              <a:sym typeface="Mulish"/>
            </a:endParaRPr>
          </a:p>
          <a:p>
            <a:pPr indent="0" lvl="0" marL="0" marR="0" rtl="0" algn="l">
              <a:spcBef>
                <a:spcPts val="200"/>
              </a:spcBef>
              <a:spcAft>
                <a:spcPts val="0"/>
              </a:spcAft>
              <a:buNone/>
            </a:pPr>
            <a:r>
              <a:t/>
            </a:r>
            <a:endParaRPr sz="1050">
              <a:solidFill>
                <a:srgbClr val="3C3C41"/>
              </a:solidFill>
              <a:latin typeface="Mulish"/>
              <a:ea typeface="Mulish"/>
              <a:cs typeface="Mulish"/>
              <a:sym typeface="Mulish"/>
            </a:endParaRPr>
          </a:p>
          <a:p>
            <a:pPr indent="0" lvl="0" marL="0" marR="0" rtl="0" algn="l">
              <a:spcBef>
                <a:spcPts val="200"/>
              </a:spcBef>
              <a:spcAft>
                <a:spcPts val="0"/>
              </a:spcAft>
              <a:buNone/>
            </a:pPr>
            <a:r>
              <a:t/>
            </a:r>
            <a:endParaRPr sz="1050">
              <a:solidFill>
                <a:srgbClr val="3C3C41"/>
              </a:solidFill>
              <a:latin typeface="Mulish"/>
              <a:ea typeface="Mulish"/>
              <a:cs typeface="Mulish"/>
              <a:sym typeface="Mulish"/>
            </a:endParaRPr>
          </a:p>
          <a:p>
            <a:pPr indent="0" lvl="0" marL="0" marR="0" rtl="0" algn="l">
              <a:spcBef>
                <a:spcPts val="200"/>
              </a:spcBef>
              <a:spcAft>
                <a:spcPts val="0"/>
              </a:spcAft>
              <a:buNone/>
            </a:pPr>
            <a:r>
              <a:t/>
            </a:r>
            <a:endParaRPr sz="1050">
              <a:solidFill>
                <a:srgbClr val="3C3C41"/>
              </a:solidFill>
              <a:latin typeface="Mulish"/>
              <a:ea typeface="Mulish"/>
              <a:cs typeface="Mulish"/>
              <a:sym typeface="Mulish"/>
            </a:endParaRPr>
          </a:p>
          <a:p>
            <a:pPr indent="0" lvl="0" marL="0" marR="0" rtl="0" algn="l">
              <a:spcBef>
                <a:spcPts val="200"/>
              </a:spcBef>
              <a:spcAft>
                <a:spcPts val="0"/>
              </a:spcAft>
              <a:buNone/>
            </a:pPr>
            <a:r>
              <a:t/>
            </a:r>
            <a:endParaRPr sz="1050">
              <a:solidFill>
                <a:srgbClr val="3C3C41"/>
              </a:solidFill>
              <a:latin typeface="Mulish"/>
              <a:ea typeface="Mulish"/>
              <a:cs typeface="Mulish"/>
              <a:sym typeface="Mulish"/>
            </a:endParaRPr>
          </a:p>
          <a:p>
            <a:pPr indent="0" lvl="0" marL="0" marR="0" rtl="0" algn="l">
              <a:spcBef>
                <a:spcPts val="200"/>
              </a:spcBef>
              <a:spcAft>
                <a:spcPts val="0"/>
              </a:spcAft>
              <a:buNone/>
            </a:pPr>
            <a:r>
              <a:t/>
            </a:r>
            <a:endParaRPr sz="1050">
              <a:solidFill>
                <a:srgbClr val="3C3C41"/>
              </a:solidFill>
              <a:latin typeface="Mulish"/>
              <a:ea typeface="Mulish"/>
              <a:cs typeface="Mulish"/>
              <a:sym typeface="Mulish"/>
            </a:endParaRPr>
          </a:p>
          <a:p>
            <a:pPr indent="0" lvl="0" marL="0" marR="0" rtl="0" algn="l">
              <a:spcBef>
                <a:spcPts val="200"/>
              </a:spcBef>
              <a:spcAft>
                <a:spcPts val="0"/>
              </a:spcAft>
              <a:buNone/>
            </a:pPr>
            <a:r>
              <a:t/>
            </a:r>
            <a:endParaRPr sz="1050">
              <a:solidFill>
                <a:srgbClr val="3C3C41"/>
              </a:solidFill>
              <a:latin typeface="Mulish"/>
              <a:ea typeface="Mulish"/>
              <a:cs typeface="Mulish"/>
              <a:sym typeface="Mulish"/>
            </a:endParaRPr>
          </a:p>
          <a:p>
            <a:pPr indent="0" lvl="0" marL="0" marR="0" rtl="0" algn="l">
              <a:spcBef>
                <a:spcPts val="200"/>
              </a:spcBef>
              <a:spcAft>
                <a:spcPts val="0"/>
              </a:spcAft>
              <a:buNone/>
            </a:pPr>
            <a:r>
              <a:t/>
            </a:r>
            <a:endParaRPr sz="1050">
              <a:solidFill>
                <a:srgbClr val="3C3C41"/>
              </a:solidFill>
              <a:latin typeface="Mulish"/>
              <a:ea typeface="Mulish"/>
              <a:cs typeface="Mulish"/>
              <a:sym typeface="Mulish"/>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
          <p:cNvSpPr/>
          <p:nvPr/>
        </p:nvSpPr>
        <p:spPr>
          <a:xfrm>
            <a:off x="0" y="0"/>
            <a:ext cx="12191700" cy="6858000"/>
          </a:xfrm>
          <a:prstGeom prst="rect">
            <a:avLst/>
          </a:prstGeom>
          <a:solidFill>
            <a:srgbClr val="FFFFF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3" name="Google Shape;123;p2"/>
          <p:cNvSpPr/>
          <p:nvPr/>
        </p:nvSpPr>
        <p:spPr>
          <a:xfrm>
            <a:off x="-182880" y="1051560"/>
            <a:ext cx="1051500" cy="329100"/>
          </a:xfrm>
          <a:prstGeom prst="roundRect">
            <a:avLst>
              <a:gd fmla="val 50000" name="adj"/>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4" name="Google Shape;124;p2"/>
          <p:cNvSpPr/>
          <p:nvPr/>
        </p:nvSpPr>
        <p:spPr>
          <a:xfrm>
            <a:off x="-182880" y="1453896"/>
            <a:ext cx="1463100" cy="329100"/>
          </a:xfrm>
          <a:prstGeom prst="roundRect">
            <a:avLst>
              <a:gd fmla="val 50000" name="adj"/>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5" name="Google Shape;125;p2"/>
          <p:cNvSpPr/>
          <p:nvPr/>
        </p:nvSpPr>
        <p:spPr>
          <a:xfrm>
            <a:off x="-182880" y="1856232"/>
            <a:ext cx="1051500" cy="329100"/>
          </a:xfrm>
          <a:prstGeom prst="roundRect">
            <a:avLst>
              <a:gd fmla="val 50000" name="adj"/>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6" name="Google Shape;126;p2"/>
          <p:cNvSpPr/>
          <p:nvPr/>
        </p:nvSpPr>
        <p:spPr>
          <a:xfrm>
            <a:off x="11521440" y="5486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7" name="Google Shape;127;p2"/>
          <p:cNvSpPr/>
          <p:nvPr/>
        </p:nvSpPr>
        <p:spPr>
          <a:xfrm>
            <a:off x="11521440" y="7132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8" name="Google Shape;128;p2"/>
          <p:cNvSpPr/>
          <p:nvPr/>
        </p:nvSpPr>
        <p:spPr>
          <a:xfrm>
            <a:off x="11521440" y="8778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9" name="Google Shape;129;p2"/>
          <p:cNvSpPr/>
          <p:nvPr/>
        </p:nvSpPr>
        <p:spPr>
          <a:xfrm>
            <a:off x="11521440" y="10424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0" name="Google Shape;130;p2"/>
          <p:cNvSpPr/>
          <p:nvPr/>
        </p:nvSpPr>
        <p:spPr>
          <a:xfrm>
            <a:off x="548640" y="55778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1" name="Google Shape;131;p2"/>
          <p:cNvSpPr/>
          <p:nvPr/>
        </p:nvSpPr>
        <p:spPr>
          <a:xfrm>
            <a:off x="548640" y="57424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2" name="Google Shape;132;p2"/>
          <p:cNvSpPr/>
          <p:nvPr/>
        </p:nvSpPr>
        <p:spPr>
          <a:xfrm>
            <a:off x="548640" y="59070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3" name="Google Shape;133;p2"/>
          <p:cNvSpPr/>
          <p:nvPr/>
        </p:nvSpPr>
        <p:spPr>
          <a:xfrm>
            <a:off x="548640" y="60716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4" name="Google Shape;134;p2"/>
          <p:cNvSpPr/>
          <p:nvPr/>
        </p:nvSpPr>
        <p:spPr>
          <a:xfrm>
            <a:off x="11087100" y="5934075"/>
            <a:ext cx="3201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5" name="Google Shape;135;p2"/>
          <p:cNvSpPr/>
          <p:nvPr/>
        </p:nvSpPr>
        <p:spPr>
          <a:xfrm>
            <a:off x="11237595" y="5783580"/>
            <a:ext cx="19200" cy="3201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6" name="Google Shape;136;p2"/>
          <p:cNvSpPr/>
          <p:nvPr/>
        </p:nvSpPr>
        <p:spPr>
          <a:xfrm>
            <a:off x="11192256" y="5888736"/>
            <a:ext cx="109800" cy="1098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7" name="Google Shape;137;p2"/>
          <p:cNvSpPr/>
          <p:nvPr/>
        </p:nvSpPr>
        <p:spPr>
          <a:xfrm>
            <a:off x="8412480" y="640080"/>
            <a:ext cx="1005900" cy="822900"/>
          </a:xfrm>
          <a:prstGeom prst="arc">
            <a:avLst>
              <a:gd fmla="val 16200000" name="adj1"/>
              <a:gd fmla="val 0" name="adj2"/>
            </a:avLst>
          </a:prstGeom>
          <a:noFill/>
          <a:ln cap="flat" cmpd="sng" w="19050">
            <a:solidFill>
              <a:srgbClr val="079ED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8" name="Google Shape;138;p2"/>
          <p:cNvSpPr/>
          <p:nvPr/>
        </p:nvSpPr>
        <p:spPr>
          <a:xfrm>
            <a:off x="8371332" y="101041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9" name="Google Shape;139;p2"/>
          <p:cNvSpPr/>
          <p:nvPr/>
        </p:nvSpPr>
        <p:spPr>
          <a:xfrm>
            <a:off x="9377172" y="59893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0" name="Google Shape;140;p2"/>
          <p:cNvSpPr txBox="1"/>
          <p:nvPr/>
        </p:nvSpPr>
        <p:spPr>
          <a:xfrm>
            <a:off x="1645920" y="384048"/>
            <a:ext cx="8229600" cy="274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353334"/>
                </a:solidFill>
                <a:latin typeface="Mulish"/>
                <a:ea typeface="Mulish"/>
                <a:cs typeface="Mulish"/>
                <a:sym typeface="Mulish"/>
              </a:rPr>
              <a:t>DATAQUEST 3.0  ·  ROUND 1</a:t>
            </a:r>
            <a:endParaRPr/>
          </a:p>
        </p:txBody>
      </p:sp>
      <p:sp>
        <p:nvSpPr>
          <p:cNvPr id="141" name="Google Shape;141;p2"/>
          <p:cNvSpPr txBox="1"/>
          <p:nvPr/>
        </p:nvSpPr>
        <p:spPr>
          <a:xfrm>
            <a:off x="1623057" y="613417"/>
            <a:ext cx="9144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D1485"/>
                </a:solidFill>
                <a:latin typeface="Fjalla One"/>
                <a:ea typeface="Fjalla One"/>
                <a:cs typeface="Fjalla One"/>
                <a:sym typeface="Fjalla One"/>
              </a:rPr>
              <a:t>02  </a:t>
            </a:r>
            <a:r>
              <a:rPr b="1" i="0" lang="en-US" sz="3200" u="none" cap="none" strike="noStrike">
                <a:solidFill>
                  <a:srgbClr val="353334"/>
                </a:solidFill>
                <a:latin typeface="Fjalla One"/>
                <a:ea typeface="Fjalla One"/>
                <a:cs typeface="Fjalla One"/>
                <a:sym typeface="Fjalla One"/>
              </a:rPr>
              <a:t>Problem Definition</a:t>
            </a:r>
            <a:endParaRPr/>
          </a:p>
        </p:txBody>
      </p:sp>
      <p:sp>
        <p:nvSpPr>
          <p:cNvPr id="142" name="Google Shape;142;p2"/>
          <p:cNvSpPr/>
          <p:nvPr/>
        </p:nvSpPr>
        <p:spPr>
          <a:xfrm>
            <a:off x="1645920" y="1444752"/>
            <a:ext cx="94182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 name="Google Shape;143;p2"/>
          <p:cNvSpPr txBox="1"/>
          <p:nvPr/>
        </p:nvSpPr>
        <p:spPr>
          <a:xfrm>
            <a:off x="1645920" y="1517904"/>
            <a:ext cx="9418200" cy="32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6E6E73"/>
                </a:solidFill>
                <a:latin typeface="Mulish"/>
                <a:ea typeface="Mulish"/>
                <a:cs typeface="Mulish"/>
                <a:sym typeface="Mulish"/>
              </a:rPr>
              <a:t>Who is impacted · Today's workarounds · Why current methods fail · Concrete proof</a:t>
            </a:r>
            <a:endParaRPr/>
          </a:p>
        </p:txBody>
      </p:sp>
      <p:sp>
        <p:nvSpPr>
          <p:cNvPr id="144" name="Google Shape;144;p2"/>
          <p:cNvSpPr/>
          <p:nvPr/>
        </p:nvSpPr>
        <p:spPr>
          <a:xfrm>
            <a:off x="1645920" y="2057400"/>
            <a:ext cx="4572000" cy="21489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 name="Google Shape;145;p2"/>
          <p:cNvSpPr/>
          <p:nvPr/>
        </p:nvSpPr>
        <p:spPr>
          <a:xfrm>
            <a:off x="1965960" y="1929384"/>
            <a:ext cx="1600200" cy="255900"/>
          </a:xfrm>
          <a:prstGeom prst="roundRect">
            <a:avLst>
              <a:gd fmla="val 50000" name="adj"/>
            </a:avLst>
          </a:prstGeom>
          <a:solidFill>
            <a:srgbClr val="079ED2"/>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01 · AUDIENCE</a:t>
            </a:r>
            <a:endParaRPr/>
          </a:p>
        </p:txBody>
      </p:sp>
      <p:sp>
        <p:nvSpPr>
          <p:cNvPr id="146" name="Google Shape;146;p2"/>
          <p:cNvSpPr txBox="1"/>
          <p:nvPr/>
        </p:nvSpPr>
        <p:spPr>
          <a:xfrm>
            <a:off x="1828815" y="2188332"/>
            <a:ext cx="4023300" cy="302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200">
              <a:solidFill>
                <a:srgbClr val="353334"/>
              </a:solidFill>
              <a:latin typeface="Fjalla One"/>
              <a:ea typeface="Fjalla One"/>
              <a:cs typeface="Fjalla One"/>
              <a:sym typeface="Fjalla One"/>
            </a:endParaRPr>
          </a:p>
          <a:p>
            <a:pPr indent="0" lvl="0" marL="0" marR="0" rtl="0" algn="l">
              <a:spcBef>
                <a:spcPts val="0"/>
              </a:spcBef>
              <a:spcAft>
                <a:spcPts val="0"/>
              </a:spcAft>
              <a:buNone/>
            </a:pPr>
            <a:r>
              <a:rPr b="1" lang="en-US" sz="1200">
                <a:solidFill>
                  <a:srgbClr val="353334"/>
                </a:solidFill>
                <a:latin typeface="Fjalla One"/>
                <a:ea typeface="Fjalla One"/>
                <a:cs typeface="Fjalla One"/>
                <a:sym typeface="Fjalla One"/>
              </a:rPr>
              <a:t>WHO ARE AFFECTED  </a:t>
            </a:r>
            <a:r>
              <a:rPr lang="en-US" sz="900">
                <a:solidFill>
                  <a:srgbClr val="353334"/>
                </a:solidFill>
                <a:latin typeface="Fjalla One"/>
                <a:ea typeface="Fjalla One"/>
                <a:cs typeface="Fjalla One"/>
                <a:sym typeface="Fjalla One"/>
              </a:rPr>
              <a:t>- </a:t>
            </a:r>
            <a:r>
              <a:rPr lang="en-US" sz="900">
                <a:solidFill>
                  <a:srgbClr val="353334"/>
                </a:solidFill>
                <a:latin typeface="Mulish"/>
                <a:ea typeface="Mulish"/>
                <a:cs typeface="Mulish"/>
                <a:sym typeface="Mulish"/>
              </a:rPr>
              <a:t>College/university students preparing for placement drives, internships, and entry-level career roles.</a:t>
            </a:r>
            <a:endParaRPr sz="900">
              <a:solidFill>
                <a:srgbClr val="353334"/>
              </a:solidFill>
              <a:latin typeface="Mulish"/>
              <a:ea typeface="Mulish"/>
              <a:cs typeface="Mulish"/>
              <a:sym typeface="Mulish"/>
            </a:endParaRPr>
          </a:p>
          <a:p>
            <a:pPr indent="0" lvl="0" marL="0" marR="0" rtl="0" algn="l">
              <a:spcBef>
                <a:spcPts val="0"/>
              </a:spcBef>
              <a:spcAft>
                <a:spcPts val="0"/>
              </a:spcAft>
              <a:buNone/>
            </a:pPr>
            <a:r>
              <a:rPr lang="en-US" sz="900">
                <a:solidFill>
                  <a:srgbClr val="353334"/>
                </a:solidFill>
                <a:latin typeface="Mulish"/>
                <a:ea typeface="Mulish"/>
                <a:cs typeface="Mulish"/>
                <a:sym typeface="Mulish"/>
              </a:rPr>
              <a:t>Placement Cells / Career Service Departments needing batch-level employability tracking. </a:t>
            </a:r>
            <a:endParaRPr sz="900">
              <a:solidFill>
                <a:srgbClr val="353334"/>
              </a:solidFill>
              <a:latin typeface="Mulish"/>
              <a:ea typeface="Mulish"/>
              <a:cs typeface="Mulish"/>
              <a:sym typeface="Mulish"/>
            </a:endParaRPr>
          </a:p>
          <a:p>
            <a:pPr indent="0" lvl="0" marL="0" marR="0" rtl="0" algn="l">
              <a:spcBef>
                <a:spcPts val="0"/>
              </a:spcBef>
              <a:spcAft>
                <a:spcPts val="0"/>
              </a:spcAft>
              <a:buNone/>
            </a:pPr>
            <a:r>
              <a:t/>
            </a:r>
            <a:endParaRPr sz="900">
              <a:solidFill>
                <a:srgbClr val="353334"/>
              </a:solidFill>
              <a:latin typeface="Fjalla One"/>
              <a:ea typeface="Fjalla One"/>
              <a:cs typeface="Fjalla One"/>
              <a:sym typeface="Fjalla One"/>
            </a:endParaRPr>
          </a:p>
          <a:p>
            <a:pPr indent="0" lvl="0" marL="0" marR="0" rtl="0" algn="l">
              <a:spcBef>
                <a:spcPts val="0"/>
              </a:spcBef>
              <a:spcAft>
                <a:spcPts val="0"/>
              </a:spcAft>
              <a:buNone/>
            </a:pPr>
            <a:r>
              <a:rPr b="1" lang="en-US" sz="1200">
                <a:solidFill>
                  <a:srgbClr val="353334"/>
                </a:solidFill>
                <a:latin typeface="Fjalla One"/>
                <a:ea typeface="Fjalla One"/>
                <a:cs typeface="Fjalla One"/>
                <a:sym typeface="Fjalla One"/>
              </a:rPr>
              <a:t>HOW OFTEN </a:t>
            </a:r>
            <a:r>
              <a:rPr b="1" lang="en-US" sz="900">
                <a:solidFill>
                  <a:srgbClr val="353334"/>
                </a:solidFill>
                <a:latin typeface="Fjalla One"/>
                <a:ea typeface="Fjalla One"/>
                <a:cs typeface="Fjalla One"/>
                <a:sym typeface="Fjalla One"/>
              </a:rPr>
              <a:t>-</a:t>
            </a:r>
            <a:r>
              <a:rPr lang="en-US" sz="900">
                <a:solidFill>
                  <a:srgbClr val="353334"/>
                </a:solidFill>
                <a:latin typeface="Fjalla One"/>
                <a:ea typeface="Fjalla One"/>
                <a:cs typeface="Fjalla One"/>
                <a:sym typeface="Fjalla One"/>
              </a:rPr>
              <a:t> </a:t>
            </a:r>
            <a:r>
              <a:rPr lang="en-US" sz="900">
                <a:solidFill>
                  <a:srgbClr val="353334"/>
                </a:solidFill>
                <a:latin typeface="Mulish"/>
                <a:ea typeface="Mulish"/>
                <a:cs typeface="Mulish"/>
                <a:sym typeface="Mulish"/>
              </a:rPr>
              <a:t>Continuous throughout the academic year, escalating sharply during placement seasons, application periods, and ahead of job interviews (weekly to daily usage). </a:t>
            </a:r>
            <a:endParaRPr sz="900">
              <a:solidFill>
                <a:srgbClr val="353334"/>
              </a:solidFill>
              <a:latin typeface="Mulish"/>
              <a:ea typeface="Mulish"/>
              <a:cs typeface="Mulish"/>
              <a:sym typeface="Mulish"/>
            </a:endParaRPr>
          </a:p>
          <a:p>
            <a:pPr indent="0" lvl="0" marL="0" marR="0" rtl="0" algn="l">
              <a:spcBef>
                <a:spcPts val="0"/>
              </a:spcBef>
              <a:spcAft>
                <a:spcPts val="0"/>
              </a:spcAft>
              <a:buNone/>
            </a:pPr>
            <a:r>
              <a:t/>
            </a:r>
            <a:endParaRPr sz="1100">
              <a:solidFill>
                <a:srgbClr val="353334"/>
              </a:solidFill>
              <a:latin typeface="Mulish"/>
              <a:ea typeface="Mulish"/>
              <a:cs typeface="Mulish"/>
              <a:sym typeface="Mulish"/>
            </a:endParaRPr>
          </a:p>
          <a:p>
            <a:pPr indent="0" lvl="0" marL="0" marR="0" rtl="0" algn="l">
              <a:spcBef>
                <a:spcPts val="0"/>
              </a:spcBef>
              <a:spcAft>
                <a:spcPts val="0"/>
              </a:spcAft>
              <a:buNone/>
            </a:pPr>
            <a:r>
              <a:t/>
            </a:r>
            <a:endParaRPr sz="1100">
              <a:solidFill>
                <a:srgbClr val="353334"/>
              </a:solidFill>
              <a:latin typeface="Fjalla One"/>
              <a:ea typeface="Fjalla One"/>
              <a:cs typeface="Fjalla One"/>
              <a:sym typeface="Fjalla One"/>
            </a:endParaRPr>
          </a:p>
          <a:p>
            <a:pPr indent="0" lvl="0" marL="0" marR="0" rtl="0" algn="l">
              <a:spcBef>
                <a:spcPts val="0"/>
              </a:spcBef>
              <a:spcAft>
                <a:spcPts val="0"/>
              </a:spcAft>
              <a:buNone/>
            </a:pPr>
            <a:r>
              <a:t/>
            </a:r>
            <a:endParaRPr sz="1100">
              <a:solidFill>
                <a:srgbClr val="353334"/>
              </a:solidFill>
              <a:latin typeface="Fjalla One"/>
              <a:ea typeface="Fjalla One"/>
              <a:cs typeface="Fjalla One"/>
              <a:sym typeface="Fjalla One"/>
            </a:endParaRPr>
          </a:p>
          <a:p>
            <a:pPr indent="0" lvl="0" marL="0" marR="0" rtl="0" algn="l">
              <a:spcBef>
                <a:spcPts val="0"/>
              </a:spcBef>
              <a:spcAft>
                <a:spcPts val="0"/>
              </a:spcAft>
              <a:buNone/>
            </a:pPr>
            <a:r>
              <a:t/>
            </a:r>
            <a:endParaRPr sz="1100">
              <a:solidFill>
                <a:srgbClr val="353334"/>
              </a:solidFill>
              <a:latin typeface="Fjalla One"/>
              <a:ea typeface="Fjalla One"/>
              <a:cs typeface="Fjalla One"/>
              <a:sym typeface="Fjalla One"/>
            </a:endParaRPr>
          </a:p>
          <a:p>
            <a:pPr indent="0" lvl="0" marL="0" marR="0" rtl="0" algn="l">
              <a:spcBef>
                <a:spcPts val="0"/>
              </a:spcBef>
              <a:spcAft>
                <a:spcPts val="0"/>
              </a:spcAft>
              <a:buNone/>
            </a:pPr>
            <a:r>
              <a:t/>
            </a:r>
            <a:endParaRPr sz="1300">
              <a:solidFill>
                <a:srgbClr val="353334"/>
              </a:solidFill>
              <a:latin typeface="Fjalla One"/>
              <a:ea typeface="Fjalla One"/>
              <a:cs typeface="Fjalla One"/>
              <a:sym typeface="Fjalla One"/>
            </a:endParaRPr>
          </a:p>
          <a:p>
            <a:pPr indent="0" lvl="0" marL="0" marR="0" rtl="0" algn="l">
              <a:spcBef>
                <a:spcPts val="0"/>
              </a:spcBef>
              <a:spcAft>
                <a:spcPts val="0"/>
              </a:spcAft>
              <a:buNone/>
            </a:pPr>
            <a:r>
              <a:t/>
            </a:r>
            <a:endParaRPr sz="1300">
              <a:solidFill>
                <a:srgbClr val="353334"/>
              </a:solidFill>
              <a:latin typeface="Fjalla One"/>
              <a:ea typeface="Fjalla One"/>
              <a:cs typeface="Fjalla One"/>
              <a:sym typeface="Fjalla One"/>
            </a:endParaRPr>
          </a:p>
          <a:p>
            <a:pPr indent="0" lvl="0" marL="0" marR="0" rtl="0" algn="l">
              <a:spcBef>
                <a:spcPts val="0"/>
              </a:spcBef>
              <a:spcAft>
                <a:spcPts val="0"/>
              </a:spcAft>
              <a:buNone/>
            </a:pPr>
            <a:r>
              <a:t/>
            </a:r>
            <a:endParaRPr sz="1300">
              <a:solidFill>
                <a:srgbClr val="353334"/>
              </a:solidFill>
              <a:latin typeface="Fjalla One"/>
              <a:ea typeface="Fjalla One"/>
              <a:cs typeface="Fjalla One"/>
              <a:sym typeface="Fjalla One"/>
            </a:endParaRPr>
          </a:p>
          <a:p>
            <a:pPr indent="0" lvl="0" marL="0" marR="0" rtl="0" algn="l">
              <a:spcBef>
                <a:spcPts val="400"/>
              </a:spcBef>
              <a:spcAft>
                <a:spcPts val="0"/>
              </a:spcAft>
              <a:buNone/>
            </a:pPr>
            <a:r>
              <a:t/>
            </a:r>
            <a:endParaRPr/>
          </a:p>
        </p:txBody>
      </p:sp>
      <p:sp>
        <p:nvSpPr>
          <p:cNvPr id="147" name="Google Shape;147;p2"/>
          <p:cNvSpPr/>
          <p:nvPr/>
        </p:nvSpPr>
        <p:spPr>
          <a:xfrm>
            <a:off x="6492240" y="2057400"/>
            <a:ext cx="4572000" cy="21489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2"/>
          <p:cNvSpPr/>
          <p:nvPr/>
        </p:nvSpPr>
        <p:spPr>
          <a:xfrm>
            <a:off x="6812280" y="1929384"/>
            <a:ext cx="1600200" cy="255900"/>
          </a:xfrm>
          <a:prstGeom prst="roundRect">
            <a:avLst>
              <a:gd fmla="val 50000" name="adj"/>
            </a:avLst>
          </a:prstGeom>
          <a:solidFill>
            <a:srgbClr val="FFB903"/>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353334"/>
                </a:solidFill>
                <a:latin typeface="Mulish"/>
                <a:ea typeface="Mulish"/>
                <a:cs typeface="Mulish"/>
                <a:sym typeface="Mulish"/>
              </a:rPr>
              <a:t>02 · STATUS QUO</a:t>
            </a:r>
            <a:endParaRPr/>
          </a:p>
        </p:txBody>
      </p:sp>
      <p:sp>
        <p:nvSpPr>
          <p:cNvPr id="149" name="Google Shape;149;p2"/>
          <p:cNvSpPr txBox="1"/>
          <p:nvPr/>
        </p:nvSpPr>
        <p:spPr>
          <a:xfrm>
            <a:off x="6682310" y="2277357"/>
            <a:ext cx="4023300" cy="115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53334"/>
                </a:solidFill>
                <a:latin typeface="Fjalla One"/>
                <a:ea typeface="Fjalla One"/>
                <a:cs typeface="Fjalla One"/>
                <a:sym typeface="Fjalla One"/>
              </a:rPr>
              <a:t>CURRENT APPROACH</a:t>
            </a:r>
            <a:endParaRPr b="1" sz="1200">
              <a:solidFill>
                <a:srgbClr val="353334"/>
              </a:solidFill>
              <a:latin typeface="Fjalla One"/>
              <a:ea typeface="Fjalla One"/>
              <a:cs typeface="Fjalla One"/>
              <a:sym typeface="Fjalla One"/>
            </a:endParaRPr>
          </a:p>
          <a:p>
            <a:pPr indent="0" lvl="0" marL="0" marR="0" rtl="0" algn="l">
              <a:spcBef>
                <a:spcPts val="0"/>
              </a:spcBef>
              <a:spcAft>
                <a:spcPts val="0"/>
              </a:spcAft>
              <a:buNone/>
            </a:pPr>
            <a:r>
              <a:t/>
            </a:r>
            <a:endParaRPr b="1" sz="900">
              <a:solidFill>
                <a:srgbClr val="353334"/>
              </a:solidFill>
              <a:latin typeface="Mulish"/>
              <a:ea typeface="Mulish"/>
              <a:cs typeface="Mulish"/>
              <a:sym typeface="Mulish"/>
            </a:endParaRPr>
          </a:p>
          <a:p>
            <a:pPr indent="0" lvl="0" marL="0" marR="0" rtl="0" algn="l">
              <a:spcBef>
                <a:spcPts val="400"/>
              </a:spcBef>
              <a:spcAft>
                <a:spcPts val="0"/>
              </a:spcAft>
              <a:buNone/>
            </a:pPr>
            <a:r>
              <a:rPr lang="en-US" sz="900">
                <a:solidFill>
                  <a:srgbClr val="888888"/>
                </a:solidFill>
                <a:latin typeface="Mulish"/>
                <a:ea typeface="Mulish"/>
                <a:cs typeface="Mulish"/>
                <a:sym typeface="Mulish"/>
              </a:rPr>
              <a:t>Students and placement cells rely on </a:t>
            </a:r>
            <a:r>
              <a:rPr b="1" lang="en-US" sz="900">
                <a:solidFill>
                  <a:srgbClr val="888888"/>
                </a:solidFill>
                <a:latin typeface="Mulish"/>
                <a:ea typeface="Mulish"/>
                <a:cs typeface="Mulish"/>
                <a:sym typeface="Mulish"/>
              </a:rPr>
              <a:t>resumes, ATS/keyword checkers, GitHub reviews, spreadsheets, online assessments, and self-reported skills</a:t>
            </a:r>
            <a:r>
              <a:rPr lang="en-US" sz="900">
                <a:solidFill>
                  <a:srgbClr val="888888"/>
                </a:solidFill>
                <a:latin typeface="Mulish"/>
                <a:ea typeface="Mulish"/>
                <a:cs typeface="Mulish"/>
                <a:sym typeface="Mulish"/>
              </a:rPr>
              <a:t>. These methods are mostly manual and fragmented, making it difficult to verify whether a student's claimed skills are actually demonstrated through real projects or work.</a:t>
            </a:r>
            <a:endParaRPr sz="900">
              <a:solidFill>
                <a:srgbClr val="888888"/>
              </a:solidFill>
              <a:latin typeface="Mulish"/>
              <a:ea typeface="Mulish"/>
              <a:cs typeface="Mulish"/>
              <a:sym typeface="Mulish"/>
            </a:endParaRPr>
          </a:p>
        </p:txBody>
      </p:sp>
      <p:sp>
        <p:nvSpPr>
          <p:cNvPr id="150" name="Google Shape;150;p2"/>
          <p:cNvSpPr/>
          <p:nvPr/>
        </p:nvSpPr>
        <p:spPr>
          <a:xfrm>
            <a:off x="1645920" y="4389120"/>
            <a:ext cx="4572000" cy="21489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2"/>
          <p:cNvSpPr/>
          <p:nvPr/>
        </p:nvSpPr>
        <p:spPr>
          <a:xfrm>
            <a:off x="1965960" y="4261104"/>
            <a:ext cx="1600200" cy="255900"/>
          </a:xfrm>
          <a:prstGeom prst="roundRect">
            <a:avLst>
              <a:gd fmla="val 50000" name="adj"/>
            </a:avLst>
          </a:prstGeom>
          <a:solidFill>
            <a:srgbClr val="FD1485"/>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03 · DEFICIENCY</a:t>
            </a:r>
            <a:endParaRPr/>
          </a:p>
        </p:txBody>
      </p:sp>
      <p:sp>
        <p:nvSpPr>
          <p:cNvPr id="152" name="Google Shape;152;p2"/>
          <p:cNvSpPr txBox="1"/>
          <p:nvPr/>
        </p:nvSpPr>
        <p:spPr>
          <a:xfrm>
            <a:off x="1920240" y="4645152"/>
            <a:ext cx="4023300" cy="115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53334"/>
                </a:solidFill>
                <a:latin typeface="Fjalla One"/>
                <a:ea typeface="Fjalla One"/>
                <a:cs typeface="Fjalla One"/>
                <a:sym typeface="Fjalla One"/>
              </a:rPr>
              <a:t>WHY IT FALLS SHORT</a:t>
            </a:r>
            <a:endParaRPr b="1" sz="1200">
              <a:solidFill>
                <a:srgbClr val="353334"/>
              </a:solidFill>
              <a:latin typeface="Fjalla One"/>
              <a:ea typeface="Fjalla One"/>
              <a:cs typeface="Fjalla One"/>
              <a:sym typeface="Fjalla One"/>
            </a:endParaRPr>
          </a:p>
          <a:p>
            <a:pPr indent="0" lvl="0" marL="0" marR="0" rtl="0" algn="l">
              <a:spcBef>
                <a:spcPts val="0"/>
              </a:spcBef>
              <a:spcAft>
                <a:spcPts val="0"/>
              </a:spcAft>
              <a:buNone/>
            </a:pPr>
            <a:r>
              <a:t/>
            </a:r>
            <a:endParaRPr b="1" sz="900">
              <a:solidFill>
                <a:srgbClr val="353334"/>
              </a:solidFill>
              <a:latin typeface="Fjalla One"/>
              <a:ea typeface="Fjalla One"/>
              <a:cs typeface="Fjalla One"/>
              <a:sym typeface="Fjalla One"/>
            </a:endParaRPr>
          </a:p>
          <a:p>
            <a:pPr indent="0" lvl="0" marL="0" marR="0" rtl="0" algn="l">
              <a:spcBef>
                <a:spcPts val="400"/>
              </a:spcBef>
              <a:spcAft>
                <a:spcPts val="0"/>
              </a:spcAft>
              <a:buNone/>
            </a:pPr>
            <a:r>
              <a:rPr lang="en-US" sz="900">
                <a:solidFill>
                  <a:srgbClr val="3C3C41"/>
                </a:solidFill>
                <a:latin typeface="Mulish"/>
                <a:ea typeface="Mulish"/>
                <a:cs typeface="Mulish"/>
                <a:sym typeface="Mulish"/>
              </a:rPr>
              <a:t>The current approach is time-consuming, manual, and difficult to scale.The main bottleneck is poor scalability and high manual effort. Reviewing resumes, GitHub projects, and assessments individually takes significant time, can lead to inconsistent evaluations, and becomes difficult to manage for large numbers of students.</a:t>
            </a:r>
            <a:endParaRPr sz="900">
              <a:latin typeface="Mulish"/>
              <a:ea typeface="Mulish"/>
              <a:cs typeface="Mulish"/>
              <a:sym typeface="Mulish"/>
            </a:endParaRPr>
          </a:p>
        </p:txBody>
      </p:sp>
      <p:sp>
        <p:nvSpPr>
          <p:cNvPr id="153" name="Google Shape;153;p2"/>
          <p:cNvSpPr/>
          <p:nvPr/>
        </p:nvSpPr>
        <p:spPr>
          <a:xfrm>
            <a:off x="6492240" y="4389120"/>
            <a:ext cx="4572000" cy="21489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2"/>
          <p:cNvSpPr/>
          <p:nvPr/>
        </p:nvSpPr>
        <p:spPr>
          <a:xfrm>
            <a:off x="6812280" y="4261104"/>
            <a:ext cx="1600200" cy="255900"/>
          </a:xfrm>
          <a:prstGeom prst="roundRect">
            <a:avLst>
              <a:gd fmla="val 50000" name="adj"/>
            </a:avLst>
          </a:prstGeom>
          <a:solidFill>
            <a:srgbClr val="353334"/>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04 · VALIDATION</a:t>
            </a:r>
            <a:endParaRPr/>
          </a:p>
        </p:txBody>
      </p:sp>
      <p:sp>
        <p:nvSpPr>
          <p:cNvPr id="155" name="Google Shape;155;p2"/>
          <p:cNvSpPr txBox="1"/>
          <p:nvPr/>
        </p:nvSpPr>
        <p:spPr>
          <a:xfrm>
            <a:off x="6513550" y="4608175"/>
            <a:ext cx="4529400" cy="241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53334"/>
                </a:solidFill>
                <a:latin typeface="Fjalla One"/>
                <a:ea typeface="Fjalla One"/>
                <a:cs typeface="Fjalla One"/>
                <a:sym typeface="Fjalla One"/>
              </a:rPr>
              <a:t>EVIDENCE</a:t>
            </a:r>
            <a:endParaRPr b="1" sz="1200">
              <a:solidFill>
                <a:srgbClr val="353334"/>
              </a:solidFill>
              <a:latin typeface="Fjalla One"/>
              <a:ea typeface="Fjalla One"/>
              <a:cs typeface="Fjalla One"/>
              <a:sym typeface="Fjalla One"/>
            </a:endParaRPr>
          </a:p>
          <a:p>
            <a:pPr indent="0" lvl="0" marL="0" marR="0" rtl="0" algn="l">
              <a:spcBef>
                <a:spcPts val="0"/>
              </a:spcBef>
              <a:spcAft>
                <a:spcPts val="0"/>
              </a:spcAft>
              <a:buNone/>
            </a:pPr>
            <a:r>
              <a:t/>
            </a:r>
            <a:endParaRPr b="1" sz="1200">
              <a:solidFill>
                <a:srgbClr val="353334"/>
              </a:solidFill>
              <a:latin typeface="Fjalla One"/>
              <a:ea typeface="Fjalla One"/>
              <a:cs typeface="Fjalla One"/>
              <a:sym typeface="Fjalla One"/>
            </a:endParaRPr>
          </a:p>
          <a:p>
            <a:pPr indent="0" lvl="0" marL="0" marR="0" rtl="0" algn="l">
              <a:spcBef>
                <a:spcPts val="0"/>
              </a:spcBef>
              <a:spcAft>
                <a:spcPts val="0"/>
              </a:spcAft>
              <a:buNone/>
            </a:pPr>
            <a:r>
              <a:rPr b="1" lang="en-US" sz="900">
                <a:solidFill>
                  <a:srgbClr val="888888"/>
                </a:solidFill>
                <a:latin typeface="Mulish"/>
                <a:ea typeface="Mulish"/>
                <a:cs typeface="Mulish"/>
                <a:sym typeface="Mulish"/>
              </a:rPr>
              <a:t>Mercer | Mettl's India Graduate Skill Index 2025</a:t>
            </a:r>
            <a:r>
              <a:rPr lang="en-US" sz="900">
                <a:solidFill>
                  <a:srgbClr val="888888"/>
                </a:solidFill>
                <a:latin typeface="Mulish"/>
                <a:ea typeface="Mulish"/>
                <a:cs typeface="Mulish"/>
                <a:sym typeface="Mulish"/>
              </a:rPr>
              <a:t>, based on </a:t>
            </a:r>
            <a:r>
              <a:rPr b="1" lang="en-US" sz="900">
                <a:solidFill>
                  <a:srgbClr val="888888"/>
                </a:solidFill>
                <a:latin typeface="Mulish"/>
                <a:ea typeface="Mulish"/>
                <a:cs typeface="Mulish"/>
                <a:sym typeface="Mulish"/>
              </a:rPr>
              <a:t>1M+ students across 2,700+ campuses</a:t>
            </a:r>
            <a:r>
              <a:rPr lang="en-US" sz="900">
                <a:solidFill>
                  <a:srgbClr val="888888"/>
                </a:solidFill>
                <a:latin typeface="Mulish"/>
                <a:ea typeface="Mulish"/>
                <a:cs typeface="Mulish"/>
                <a:sym typeface="Mulish"/>
              </a:rPr>
              <a:t>, reported </a:t>
            </a:r>
            <a:r>
              <a:rPr b="1" lang="en-US" sz="900">
                <a:solidFill>
                  <a:srgbClr val="888888"/>
                </a:solidFill>
                <a:latin typeface="Mulish"/>
                <a:ea typeface="Mulish"/>
                <a:cs typeface="Mulish"/>
                <a:sym typeface="Mulish"/>
              </a:rPr>
              <a:t>42.6% overall graduate employability</a:t>
            </a:r>
            <a:r>
              <a:rPr lang="en-US" sz="900">
                <a:solidFill>
                  <a:srgbClr val="888888"/>
                </a:solidFill>
                <a:latin typeface="Mulish"/>
                <a:ea typeface="Mulish"/>
                <a:cs typeface="Mulish"/>
                <a:sym typeface="Mulish"/>
              </a:rPr>
              <a:t> among Indian graduates, while the </a:t>
            </a:r>
            <a:r>
              <a:rPr b="1" lang="en-US" sz="900">
                <a:solidFill>
                  <a:srgbClr val="888888"/>
                </a:solidFill>
                <a:latin typeface="Mulish"/>
                <a:ea typeface="Mulish"/>
                <a:cs typeface="Mulish"/>
                <a:sym typeface="Mulish"/>
              </a:rPr>
              <a:t>World Economic Forum's Future of Jobs Report 2025</a:t>
            </a:r>
            <a:r>
              <a:rPr lang="en-US" sz="900">
                <a:solidFill>
                  <a:srgbClr val="888888"/>
                </a:solidFill>
                <a:latin typeface="Mulish"/>
                <a:ea typeface="Mulish"/>
                <a:cs typeface="Mulish"/>
                <a:sym typeface="Mulish"/>
              </a:rPr>
              <a:t> found that </a:t>
            </a:r>
            <a:r>
              <a:rPr b="1" lang="en-US" sz="900">
                <a:solidFill>
                  <a:srgbClr val="888888"/>
                </a:solidFill>
                <a:latin typeface="Mulish"/>
                <a:ea typeface="Mulish"/>
                <a:cs typeface="Mulish"/>
                <a:sym typeface="Mulish"/>
              </a:rPr>
              <a:t>63% of employers identify skill gaps as a major barrier to business transformation</a:t>
            </a:r>
            <a:r>
              <a:rPr lang="en-US" sz="900">
                <a:solidFill>
                  <a:srgbClr val="888888"/>
                </a:solidFill>
                <a:latin typeface="Mulish"/>
                <a:ea typeface="Mulish"/>
                <a:cs typeface="Mulish"/>
                <a:sym typeface="Mulish"/>
              </a:rPr>
              <a:t>, highlighting the need for better skill-gap identification, continuous assessment, and upskilling. </a:t>
            </a:r>
            <a:endParaRPr sz="900">
              <a:solidFill>
                <a:srgbClr val="888888"/>
              </a:solidFill>
              <a:latin typeface="Mulish"/>
              <a:ea typeface="Mulish"/>
              <a:cs typeface="Mulish"/>
              <a:sym typeface="Mulish"/>
            </a:endParaRPr>
          </a:p>
          <a:p>
            <a:pPr indent="0" lvl="0" marL="0" marR="0" rtl="0" algn="l">
              <a:spcBef>
                <a:spcPts val="0"/>
              </a:spcBef>
              <a:spcAft>
                <a:spcPts val="0"/>
              </a:spcAft>
              <a:buNone/>
            </a:pPr>
            <a:r>
              <a:rPr b="1" lang="en-US" sz="900">
                <a:solidFill>
                  <a:srgbClr val="888888"/>
                </a:solidFill>
                <a:latin typeface="Mulish"/>
                <a:ea typeface="Mulish"/>
                <a:cs typeface="Mulish"/>
                <a:sym typeface="Mulish"/>
              </a:rPr>
              <a:t>Sources:</a:t>
            </a:r>
            <a:r>
              <a:rPr lang="en-US" sz="900">
                <a:solidFill>
                  <a:srgbClr val="888888"/>
                </a:solidFill>
                <a:latin typeface="Mulish"/>
                <a:ea typeface="Mulish"/>
                <a:cs typeface="Mulish"/>
                <a:sym typeface="Mulish"/>
              </a:rPr>
              <a:t> Mercer | Mettl, </a:t>
            </a:r>
            <a:r>
              <a:rPr i="1" lang="en-US" sz="900">
                <a:solidFill>
                  <a:srgbClr val="888888"/>
                </a:solidFill>
                <a:latin typeface="Mulish"/>
                <a:ea typeface="Mulish"/>
                <a:cs typeface="Mulish"/>
                <a:sym typeface="Mulish"/>
              </a:rPr>
              <a:t>India's Graduate Skill Index 2025</a:t>
            </a:r>
            <a:r>
              <a:rPr lang="en-US" sz="900">
                <a:solidFill>
                  <a:srgbClr val="888888"/>
                </a:solidFill>
                <a:latin typeface="Mulish"/>
                <a:ea typeface="Mulish"/>
                <a:cs typeface="Mulish"/>
                <a:sym typeface="Mulish"/>
              </a:rPr>
              <a:t>; </a:t>
            </a:r>
            <a:endParaRPr sz="900">
              <a:solidFill>
                <a:srgbClr val="888888"/>
              </a:solidFill>
              <a:latin typeface="Mulish"/>
              <a:ea typeface="Mulish"/>
              <a:cs typeface="Mulish"/>
              <a:sym typeface="Mulish"/>
            </a:endParaRPr>
          </a:p>
          <a:p>
            <a:pPr indent="0" lvl="0" marL="0" marR="0" rtl="0" algn="l">
              <a:spcBef>
                <a:spcPts val="0"/>
              </a:spcBef>
              <a:spcAft>
                <a:spcPts val="0"/>
              </a:spcAft>
              <a:buNone/>
            </a:pPr>
            <a:r>
              <a:rPr lang="en-US" sz="900">
                <a:solidFill>
                  <a:srgbClr val="888888"/>
                </a:solidFill>
                <a:latin typeface="Mulish"/>
                <a:ea typeface="Mulish"/>
                <a:cs typeface="Mulish"/>
                <a:sym typeface="Mulish"/>
              </a:rPr>
              <a:t>World Economic Forum, </a:t>
            </a:r>
            <a:r>
              <a:rPr i="1" lang="en-US" sz="900">
                <a:solidFill>
                  <a:srgbClr val="888888"/>
                </a:solidFill>
                <a:latin typeface="Mulish"/>
                <a:ea typeface="Mulish"/>
                <a:cs typeface="Mulish"/>
                <a:sym typeface="Mulish"/>
              </a:rPr>
              <a:t>Future of Jobs Report 2025</a:t>
            </a:r>
            <a:r>
              <a:rPr lang="en-US" sz="900">
                <a:solidFill>
                  <a:srgbClr val="888888"/>
                </a:solidFill>
                <a:latin typeface="Mulish"/>
                <a:ea typeface="Mulish"/>
                <a:cs typeface="Mulish"/>
                <a:sym typeface="Mulish"/>
              </a:rPr>
              <a:t>.</a:t>
            </a:r>
            <a:endParaRPr sz="900">
              <a:solidFill>
                <a:srgbClr val="888888"/>
              </a:solidFill>
              <a:latin typeface="Mulish"/>
              <a:ea typeface="Mulish"/>
              <a:cs typeface="Mulish"/>
              <a:sym typeface="Mulish"/>
            </a:endParaRPr>
          </a:p>
          <a:p>
            <a:pPr indent="0" lvl="0" marL="0" marR="0" rtl="0" algn="l">
              <a:spcBef>
                <a:spcPts val="0"/>
              </a:spcBef>
              <a:spcAft>
                <a:spcPts val="0"/>
              </a:spcAft>
              <a:buNone/>
            </a:pPr>
            <a:r>
              <a:t/>
            </a:r>
            <a:endParaRPr b="1" sz="1100">
              <a:solidFill>
                <a:srgbClr val="888888"/>
              </a:solidFill>
              <a:latin typeface="Fjalla One"/>
              <a:ea typeface="Fjalla One"/>
              <a:cs typeface="Fjalla One"/>
              <a:sym typeface="Fjalla One"/>
            </a:endParaRPr>
          </a:p>
          <a:p>
            <a:pPr indent="0" lvl="0" marL="381000" marR="381000" rtl="0" algn="l">
              <a:lnSpc>
                <a:spcPct val="115000"/>
              </a:lnSpc>
              <a:spcBef>
                <a:spcPts val="1200"/>
              </a:spcBef>
              <a:spcAft>
                <a:spcPts val="0"/>
              </a:spcAft>
              <a:buClr>
                <a:schemeClr val="dk1"/>
              </a:buClr>
              <a:buSzPts val="1100"/>
              <a:buFont typeface="Arial"/>
              <a:buNone/>
            </a:pPr>
            <a:r>
              <a:t/>
            </a:r>
            <a:endParaRPr b="1" sz="1100">
              <a:solidFill>
                <a:schemeClr val="dk1"/>
              </a:solidFill>
              <a:latin typeface="Fjalla One"/>
              <a:ea typeface="Fjalla One"/>
              <a:cs typeface="Fjalla One"/>
              <a:sym typeface="Fjalla One"/>
            </a:endParaRPr>
          </a:p>
          <a:p>
            <a:pPr indent="0" lvl="0" marL="0" marR="0" rtl="0" algn="l">
              <a:spcBef>
                <a:spcPts val="1200"/>
              </a:spcBef>
              <a:spcAft>
                <a:spcPts val="0"/>
              </a:spcAft>
              <a:buNone/>
            </a:pPr>
            <a:r>
              <a:t/>
            </a:r>
            <a:endParaRPr b="1" sz="1100">
              <a:solidFill>
                <a:schemeClr val="dk1"/>
              </a:solidFill>
              <a:latin typeface="Fjalla One"/>
              <a:ea typeface="Fjalla One"/>
              <a:cs typeface="Fjalla One"/>
              <a:sym typeface="Fjalla On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
          <p:cNvSpPr/>
          <p:nvPr/>
        </p:nvSpPr>
        <p:spPr>
          <a:xfrm>
            <a:off x="0" y="0"/>
            <a:ext cx="12191700" cy="6858000"/>
          </a:xfrm>
          <a:prstGeom prst="rect">
            <a:avLst/>
          </a:prstGeom>
          <a:solidFill>
            <a:srgbClr val="FFFFF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 name="Google Shape;161;p3"/>
          <p:cNvSpPr/>
          <p:nvPr/>
        </p:nvSpPr>
        <p:spPr>
          <a:xfrm>
            <a:off x="-182880" y="1051560"/>
            <a:ext cx="1051500" cy="329100"/>
          </a:xfrm>
          <a:prstGeom prst="roundRect">
            <a:avLst>
              <a:gd fmla="val 50000" name="adj"/>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3"/>
          <p:cNvSpPr/>
          <p:nvPr/>
        </p:nvSpPr>
        <p:spPr>
          <a:xfrm>
            <a:off x="-182880" y="1453896"/>
            <a:ext cx="1463100" cy="329100"/>
          </a:xfrm>
          <a:prstGeom prst="roundRect">
            <a:avLst>
              <a:gd fmla="val 50000" name="adj"/>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3"/>
          <p:cNvSpPr/>
          <p:nvPr/>
        </p:nvSpPr>
        <p:spPr>
          <a:xfrm>
            <a:off x="-182880" y="1856232"/>
            <a:ext cx="1051500" cy="329100"/>
          </a:xfrm>
          <a:prstGeom prst="roundRect">
            <a:avLst>
              <a:gd fmla="val 50000" name="adj"/>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 name="Google Shape;164;p3"/>
          <p:cNvSpPr/>
          <p:nvPr/>
        </p:nvSpPr>
        <p:spPr>
          <a:xfrm>
            <a:off x="11521440" y="5486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3"/>
          <p:cNvSpPr/>
          <p:nvPr/>
        </p:nvSpPr>
        <p:spPr>
          <a:xfrm>
            <a:off x="11521440" y="7132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3"/>
          <p:cNvSpPr/>
          <p:nvPr/>
        </p:nvSpPr>
        <p:spPr>
          <a:xfrm>
            <a:off x="11521440" y="8778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3"/>
          <p:cNvSpPr/>
          <p:nvPr/>
        </p:nvSpPr>
        <p:spPr>
          <a:xfrm>
            <a:off x="11521440" y="10424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3"/>
          <p:cNvSpPr/>
          <p:nvPr/>
        </p:nvSpPr>
        <p:spPr>
          <a:xfrm>
            <a:off x="548640" y="55778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 name="Google Shape;169;p3"/>
          <p:cNvSpPr/>
          <p:nvPr/>
        </p:nvSpPr>
        <p:spPr>
          <a:xfrm>
            <a:off x="548640" y="57424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3"/>
          <p:cNvSpPr/>
          <p:nvPr/>
        </p:nvSpPr>
        <p:spPr>
          <a:xfrm>
            <a:off x="548640" y="59070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 name="Google Shape;171;p3"/>
          <p:cNvSpPr/>
          <p:nvPr/>
        </p:nvSpPr>
        <p:spPr>
          <a:xfrm>
            <a:off x="548640" y="60716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3"/>
          <p:cNvSpPr/>
          <p:nvPr/>
        </p:nvSpPr>
        <p:spPr>
          <a:xfrm>
            <a:off x="11087100" y="5934075"/>
            <a:ext cx="3201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 name="Google Shape;173;p3"/>
          <p:cNvSpPr/>
          <p:nvPr/>
        </p:nvSpPr>
        <p:spPr>
          <a:xfrm>
            <a:off x="11237595" y="5783580"/>
            <a:ext cx="19200" cy="3201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 name="Google Shape;174;p3"/>
          <p:cNvSpPr/>
          <p:nvPr/>
        </p:nvSpPr>
        <p:spPr>
          <a:xfrm>
            <a:off x="11192256" y="5888736"/>
            <a:ext cx="109800" cy="1098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3"/>
          <p:cNvSpPr/>
          <p:nvPr/>
        </p:nvSpPr>
        <p:spPr>
          <a:xfrm>
            <a:off x="8412480" y="640080"/>
            <a:ext cx="1005900" cy="822900"/>
          </a:xfrm>
          <a:prstGeom prst="arc">
            <a:avLst>
              <a:gd fmla="val 16200000" name="adj1"/>
              <a:gd fmla="val 0" name="adj2"/>
            </a:avLst>
          </a:prstGeom>
          <a:noFill/>
          <a:ln cap="flat" cmpd="sng" w="19050">
            <a:solidFill>
              <a:srgbClr val="079ED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3"/>
          <p:cNvSpPr/>
          <p:nvPr/>
        </p:nvSpPr>
        <p:spPr>
          <a:xfrm>
            <a:off x="8371332" y="101041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 name="Google Shape;177;p3"/>
          <p:cNvSpPr/>
          <p:nvPr/>
        </p:nvSpPr>
        <p:spPr>
          <a:xfrm>
            <a:off x="9377172" y="59893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 name="Google Shape;178;p3"/>
          <p:cNvSpPr txBox="1"/>
          <p:nvPr/>
        </p:nvSpPr>
        <p:spPr>
          <a:xfrm>
            <a:off x="1645920" y="384048"/>
            <a:ext cx="8229600" cy="274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353334"/>
                </a:solidFill>
                <a:latin typeface="Mulish"/>
                <a:ea typeface="Mulish"/>
                <a:cs typeface="Mulish"/>
                <a:sym typeface="Mulish"/>
              </a:rPr>
              <a:t>DATAQUEST 3.0  ·  ROUND 1</a:t>
            </a:r>
            <a:endParaRPr/>
          </a:p>
        </p:txBody>
      </p:sp>
      <p:sp>
        <p:nvSpPr>
          <p:cNvPr id="179" name="Google Shape;179;p3"/>
          <p:cNvSpPr txBox="1"/>
          <p:nvPr/>
        </p:nvSpPr>
        <p:spPr>
          <a:xfrm>
            <a:off x="1645920" y="621792"/>
            <a:ext cx="9144000" cy="777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FD1485"/>
                </a:solidFill>
                <a:latin typeface="Fjalla One"/>
                <a:ea typeface="Fjalla One"/>
                <a:cs typeface="Fjalla One"/>
                <a:sym typeface="Fjalla One"/>
              </a:rPr>
              <a:t>03  </a:t>
            </a:r>
            <a:r>
              <a:rPr b="1" lang="en-US" sz="3200">
                <a:solidFill>
                  <a:srgbClr val="353334"/>
                </a:solidFill>
                <a:latin typeface="Fjalla One"/>
                <a:ea typeface="Fjalla One"/>
                <a:cs typeface="Fjalla One"/>
                <a:sym typeface="Fjalla One"/>
              </a:rPr>
              <a:t>Proposed Solution</a:t>
            </a:r>
            <a:endParaRPr/>
          </a:p>
        </p:txBody>
      </p:sp>
      <p:sp>
        <p:nvSpPr>
          <p:cNvPr id="180" name="Google Shape;180;p3"/>
          <p:cNvSpPr/>
          <p:nvPr/>
        </p:nvSpPr>
        <p:spPr>
          <a:xfrm>
            <a:off x="1645920" y="1444752"/>
            <a:ext cx="94182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3"/>
          <p:cNvSpPr txBox="1"/>
          <p:nvPr/>
        </p:nvSpPr>
        <p:spPr>
          <a:xfrm>
            <a:off x="1645920" y="1517904"/>
            <a:ext cx="9418200" cy="32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6E6E73"/>
                </a:solidFill>
                <a:latin typeface="Mulish"/>
                <a:ea typeface="Mulish"/>
                <a:cs typeface="Mulish"/>
                <a:sym typeface="Mulish"/>
              </a:rPr>
              <a:t>System identity · End-to-end user workflow · Competitive advantages</a:t>
            </a:r>
            <a:endParaRPr/>
          </a:p>
        </p:txBody>
      </p:sp>
      <p:sp>
        <p:nvSpPr>
          <p:cNvPr id="182" name="Google Shape;182;p3"/>
          <p:cNvSpPr/>
          <p:nvPr/>
        </p:nvSpPr>
        <p:spPr>
          <a:xfrm>
            <a:off x="1645920" y="2011680"/>
            <a:ext cx="9418200" cy="11886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3" name="Google Shape;183;p3"/>
          <p:cNvSpPr/>
          <p:nvPr/>
        </p:nvSpPr>
        <p:spPr>
          <a:xfrm>
            <a:off x="1965960" y="1883664"/>
            <a:ext cx="1600200" cy="255900"/>
          </a:xfrm>
          <a:prstGeom prst="roundRect">
            <a:avLst>
              <a:gd fmla="val 50000" name="adj"/>
            </a:avLst>
          </a:prstGeom>
          <a:solidFill>
            <a:srgbClr val="FD1485"/>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SOLUTION CORE</a:t>
            </a:r>
            <a:endParaRPr/>
          </a:p>
        </p:txBody>
      </p:sp>
      <p:sp>
        <p:nvSpPr>
          <p:cNvPr id="184" name="Google Shape;184;p3"/>
          <p:cNvSpPr txBox="1"/>
          <p:nvPr/>
        </p:nvSpPr>
        <p:spPr>
          <a:xfrm>
            <a:off x="1920240" y="2194560"/>
            <a:ext cx="8869800" cy="915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353334"/>
                </a:solidFill>
                <a:latin typeface="Fjalla One"/>
                <a:ea typeface="Fjalla One"/>
                <a:cs typeface="Fjalla One"/>
                <a:sym typeface="Fjalla One"/>
              </a:rPr>
              <a:t>CAREER LENS </a:t>
            </a:r>
            <a:endParaRPr/>
          </a:p>
          <a:p>
            <a:pPr indent="0" lvl="0" marL="0" marR="0" rtl="0" algn="l">
              <a:spcBef>
                <a:spcPts val="300"/>
              </a:spcBef>
              <a:spcAft>
                <a:spcPts val="0"/>
              </a:spcAft>
              <a:buNone/>
            </a:pPr>
            <a:r>
              <a:rPr lang="en-US" sz="1000">
                <a:solidFill>
                  <a:srgbClr val="3C3C41"/>
                </a:solidFill>
                <a:latin typeface="Mulish"/>
                <a:ea typeface="Mulish"/>
                <a:cs typeface="Mulish"/>
                <a:sym typeface="Mulish"/>
              </a:rPr>
              <a:t>CareerLens is an evidence-first employability platform that combines a student's: </a:t>
            </a:r>
            <a:endParaRPr sz="1000">
              <a:solidFill>
                <a:srgbClr val="3C3C41"/>
              </a:solidFill>
              <a:latin typeface="Mulish"/>
              <a:ea typeface="Mulish"/>
              <a:cs typeface="Mulish"/>
              <a:sym typeface="Mulish"/>
            </a:endParaRPr>
          </a:p>
          <a:p>
            <a:pPr indent="0" lvl="0" marL="0" marR="0" rtl="0" algn="l">
              <a:spcBef>
                <a:spcPts val="300"/>
              </a:spcBef>
              <a:spcAft>
                <a:spcPts val="0"/>
              </a:spcAft>
              <a:buNone/>
            </a:pPr>
            <a:r>
              <a:rPr lang="en-US" sz="1000">
                <a:solidFill>
                  <a:srgbClr val="3C3C41"/>
                </a:solidFill>
                <a:latin typeface="Mulish"/>
                <a:ea typeface="Mulish"/>
                <a:cs typeface="Mulish"/>
                <a:sym typeface="Mulish"/>
              </a:rPr>
              <a:t>Resume + GitHub + Portfolio + Professional Profile</a:t>
            </a:r>
            <a:endParaRPr sz="1000">
              <a:solidFill>
                <a:srgbClr val="3C3C41"/>
              </a:solidFill>
              <a:latin typeface="Mulish"/>
              <a:ea typeface="Mulish"/>
              <a:cs typeface="Mulish"/>
              <a:sym typeface="Mulish"/>
            </a:endParaRPr>
          </a:p>
          <a:p>
            <a:pPr indent="0" lvl="0" marL="0" marR="0" rtl="0" algn="l">
              <a:spcBef>
                <a:spcPts val="300"/>
              </a:spcBef>
              <a:spcAft>
                <a:spcPts val="0"/>
              </a:spcAft>
              <a:buNone/>
            </a:pPr>
            <a:r>
              <a:rPr lang="en-US" sz="1000">
                <a:solidFill>
                  <a:srgbClr val="3C3C41"/>
                </a:solidFill>
                <a:latin typeface="Mulish"/>
                <a:ea typeface="Mulish"/>
                <a:cs typeface="Mulish"/>
                <a:sym typeface="Mulish"/>
              </a:rPr>
              <a:t>Core philosophy : Claim → Evidence → Verification → Decision → Action  </a:t>
            </a:r>
            <a:endParaRPr/>
          </a:p>
        </p:txBody>
      </p:sp>
      <p:sp>
        <p:nvSpPr>
          <p:cNvPr id="185" name="Google Shape;185;p3"/>
          <p:cNvSpPr/>
          <p:nvPr/>
        </p:nvSpPr>
        <p:spPr>
          <a:xfrm>
            <a:off x="1645920" y="3383280"/>
            <a:ext cx="9418200" cy="12801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3"/>
          <p:cNvSpPr/>
          <p:nvPr/>
        </p:nvSpPr>
        <p:spPr>
          <a:xfrm>
            <a:off x="1965960" y="3255264"/>
            <a:ext cx="1600200" cy="255900"/>
          </a:xfrm>
          <a:prstGeom prst="roundRect">
            <a:avLst>
              <a:gd fmla="val 50000" name="adj"/>
            </a:avLst>
          </a:prstGeom>
          <a:solidFill>
            <a:srgbClr val="079ED2"/>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USER FLOW</a:t>
            </a:r>
            <a:endParaRPr/>
          </a:p>
        </p:txBody>
      </p:sp>
      <p:sp>
        <p:nvSpPr>
          <p:cNvPr id="187" name="Google Shape;187;p3"/>
          <p:cNvSpPr/>
          <p:nvPr/>
        </p:nvSpPr>
        <p:spPr>
          <a:xfrm>
            <a:off x="1920240" y="3822192"/>
            <a:ext cx="2560200" cy="640200"/>
          </a:xfrm>
          <a:prstGeom prst="roundRect">
            <a:avLst>
              <a:gd fmla="val 8000" name="adj"/>
            </a:avLst>
          </a:prstGeom>
          <a:solidFill>
            <a:srgbClr val="FFFFFF"/>
          </a:solidFill>
          <a:ln cap="flat" cmpd="sng" w="19050">
            <a:solidFill>
              <a:srgbClr val="079ED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000">
                <a:solidFill>
                  <a:srgbClr val="353334"/>
                </a:solidFill>
                <a:latin typeface="Fjalla One"/>
                <a:ea typeface="Fjalla One"/>
                <a:cs typeface="Fjalla One"/>
                <a:sym typeface="Fjalla One"/>
              </a:rPr>
              <a:t>1. USER INPUT</a:t>
            </a:r>
            <a:endParaRPr/>
          </a:p>
          <a:p>
            <a:pPr indent="0" lvl="0" marL="0" marR="0" rtl="0" algn="ctr">
              <a:spcBef>
                <a:spcPts val="0"/>
              </a:spcBef>
              <a:spcAft>
                <a:spcPts val="0"/>
              </a:spcAft>
              <a:buNone/>
            </a:pPr>
            <a:r>
              <a:rPr lang="en-US" sz="850">
                <a:solidFill>
                  <a:srgbClr val="3C3C41"/>
                </a:solidFill>
                <a:latin typeface="Mulish"/>
                <a:ea typeface="Mulish"/>
                <a:cs typeface="Mulish"/>
                <a:sym typeface="Mulish"/>
              </a:rPr>
              <a:t>Student provides: - Resume — PDF/DOCX - GitHub username/profile - Portfolio URL - LinkedIn PDF/text export - Target career role  </a:t>
            </a:r>
            <a:endParaRPr/>
          </a:p>
        </p:txBody>
      </p:sp>
      <p:sp>
        <p:nvSpPr>
          <p:cNvPr id="188" name="Google Shape;188;p3"/>
          <p:cNvSpPr txBox="1"/>
          <p:nvPr/>
        </p:nvSpPr>
        <p:spPr>
          <a:xfrm>
            <a:off x="4590288" y="3931920"/>
            <a:ext cx="329100" cy="365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800">
                <a:solidFill>
                  <a:srgbClr val="353334"/>
                </a:solidFill>
                <a:latin typeface="Mulish"/>
                <a:ea typeface="Mulish"/>
                <a:cs typeface="Mulish"/>
                <a:sym typeface="Mulish"/>
              </a:rPr>
              <a:t>➔</a:t>
            </a:r>
            <a:endParaRPr/>
          </a:p>
        </p:txBody>
      </p:sp>
      <p:sp>
        <p:nvSpPr>
          <p:cNvPr id="189" name="Google Shape;189;p3"/>
          <p:cNvSpPr/>
          <p:nvPr/>
        </p:nvSpPr>
        <p:spPr>
          <a:xfrm>
            <a:off x="5029200" y="3822192"/>
            <a:ext cx="2560200" cy="640200"/>
          </a:xfrm>
          <a:prstGeom prst="roundRect">
            <a:avLst>
              <a:gd fmla="val 8000" name="adj"/>
            </a:avLst>
          </a:prstGeom>
          <a:solidFill>
            <a:srgbClr val="FFFFFF"/>
          </a:solidFill>
          <a:ln cap="flat" cmpd="sng" w="19050">
            <a:solidFill>
              <a:srgbClr val="FFB903"/>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000">
                <a:solidFill>
                  <a:srgbClr val="353334"/>
                </a:solidFill>
                <a:latin typeface="Fjalla One"/>
                <a:ea typeface="Fjalla One"/>
                <a:cs typeface="Fjalla One"/>
                <a:sym typeface="Fjalla One"/>
              </a:rPr>
              <a:t>2. PROCESSING</a:t>
            </a:r>
            <a:endParaRPr/>
          </a:p>
          <a:p>
            <a:pPr indent="0" lvl="0" marL="0" marR="0" rtl="0" algn="ctr">
              <a:spcBef>
                <a:spcPts val="0"/>
              </a:spcBef>
              <a:spcAft>
                <a:spcPts val="0"/>
              </a:spcAft>
              <a:buClr>
                <a:srgbClr val="000000"/>
              </a:buClr>
              <a:buFont typeface="Arial"/>
              <a:buNone/>
            </a:pPr>
            <a:r>
              <a:rPr lang="en-US" sz="850">
                <a:solidFill>
                  <a:srgbClr val="3C3C41"/>
                </a:solidFill>
                <a:latin typeface="Mulish"/>
                <a:ea typeface="Mulish"/>
                <a:cs typeface="Mulish"/>
                <a:sym typeface="Mulish"/>
              </a:rPr>
              <a:t>Resume Parser - Evidence Engine - Claim-Evidence Engine - Readiness Engine - Gap &amp; Roadmap Engine </a:t>
            </a:r>
            <a:endParaRPr/>
          </a:p>
        </p:txBody>
      </p:sp>
      <p:sp>
        <p:nvSpPr>
          <p:cNvPr id="190" name="Google Shape;190;p3"/>
          <p:cNvSpPr txBox="1"/>
          <p:nvPr/>
        </p:nvSpPr>
        <p:spPr>
          <a:xfrm>
            <a:off x="7699248" y="3931920"/>
            <a:ext cx="329100" cy="365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800">
                <a:solidFill>
                  <a:srgbClr val="353334"/>
                </a:solidFill>
                <a:latin typeface="Mulish"/>
                <a:ea typeface="Mulish"/>
                <a:cs typeface="Mulish"/>
                <a:sym typeface="Mulish"/>
              </a:rPr>
              <a:t>➔</a:t>
            </a:r>
            <a:endParaRPr/>
          </a:p>
        </p:txBody>
      </p:sp>
      <p:sp>
        <p:nvSpPr>
          <p:cNvPr id="191" name="Google Shape;191;p3"/>
          <p:cNvSpPr/>
          <p:nvPr/>
        </p:nvSpPr>
        <p:spPr>
          <a:xfrm>
            <a:off x="8138160" y="3822192"/>
            <a:ext cx="2560200" cy="640200"/>
          </a:xfrm>
          <a:prstGeom prst="roundRect">
            <a:avLst>
              <a:gd fmla="val 8000" name="adj"/>
            </a:avLst>
          </a:prstGeom>
          <a:solidFill>
            <a:srgbClr val="FFFFFF"/>
          </a:solidFill>
          <a:ln cap="flat" cmpd="sng" w="19050">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900">
                <a:solidFill>
                  <a:srgbClr val="353334"/>
                </a:solidFill>
                <a:latin typeface="Fjalla One"/>
                <a:ea typeface="Fjalla One"/>
                <a:cs typeface="Fjalla One"/>
                <a:sym typeface="Fjalla One"/>
              </a:rPr>
              <a:t>3. OUTPUT</a:t>
            </a:r>
            <a:endParaRPr sz="1300"/>
          </a:p>
          <a:p>
            <a:pPr indent="0" lvl="0" marL="0" marR="0" rtl="0" algn="ctr">
              <a:spcBef>
                <a:spcPts val="0"/>
              </a:spcBef>
              <a:spcAft>
                <a:spcPts val="0"/>
              </a:spcAft>
              <a:buNone/>
            </a:pPr>
            <a:r>
              <a:rPr lang="en-US" sz="650">
                <a:solidFill>
                  <a:srgbClr val="3C3C41"/>
                </a:solidFill>
                <a:latin typeface="Mulish"/>
                <a:ea typeface="Mulish"/>
                <a:cs typeface="Mulish"/>
                <a:sym typeface="Mulish"/>
              </a:rPr>
              <a:t>Student receives: Job Readiness Score - Claim-Evidence Matrix - Role-Fit Ranking - Skill Gap Analysis - Personalized Roadmap - What-If Score Simulator - Interview Questions - Evidence-based Resume Improvements </a:t>
            </a:r>
            <a:endParaRPr sz="1200"/>
          </a:p>
        </p:txBody>
      </p:sp>
      <p:sp>
        <p:nvSpPr>
          <p:cNvPr id="192" name="Google Shape;192;p3"/>
          <p:cNvSpPr/>
          <p:nvPr/>
        </p:nvSpPr>
        <p:spPr>
          <a:xfrm>
            <a:off x="1645920" y="4846320"/>
            <a:ext cx="4572000" cy="16917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3"/>
          <p:cNvSpPr/>
          <p:nvPr/>
        </p:nvSpPr>
        <p:spPr>
          <a:xfrm>
            <a:off x="1965960" y="4718304"/>
            <a:ext cx="1600200" cy="255900"/>
          </a:xfrm>
          <a:prstGeom prst="roundRect">
            <a:avLst>
              <a:gd fmla="val 50000" name="adj"/>
            </a:avLst>
          </a:prstGeom>
          <a:solidFill>
            <a:srgbClr val="FFB903"/>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353334"/>
                </a:solidFill>
                <a:latin typeface="Mulish"/>
                <a:ea typeface="Mulish"/>
                <a:cs typeface="Mulish"/>
                <a:sym typeface="Mulish"/>
              </a:rPr>
              <a:t>ADVANTAGE</a:t>
            </a:r>
            <a:endParaRPr/>
          </a:p>
        </p:txBody>
      </p:sp>
      <p:sp>
        <p:nvSpPr>
          <p:cNvPr id="194" name="Google Shape;194;p3"/>
          <p:cNvSpPr txBox="1"/>
          <p:nvPr/>
        </p:nvSpPr>
        <p:spPr>
          <a:xfrm>
            <a:off x="1920240" y="5074920"/>
            <a:ext cx="4023300" cy="1316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53334"/>
                </a:solidFill>
                <a:latin typeface="Fjalla One"/>
                <a:ea typeface="Fjalla One"/>
                <a:cs typeface="Fjalla One"/>
                <a:sym typeface="Fjalla One"/>
              </a:rPr>
              <a:t>WHY IT IS BETTER</a:t>
            </a:r>
            <a:endParaRPr/>
          </a:p>
          <a:p>
            <a:pPr indent="0" lvl="0" marL="0" marR="0" rtl="0" algn="l">
              <a:spcBef>
                <a:spcPts val="300"/>
              </a:spcBef>
              <a:spcAft>
                <a:spcPts val="0"/>
              </a:spcAft>
              <a:buNone/>
            </a:pPr>
            <a:r>
              <a:rPr lang="en-US" sz="1000">
                <a:solidFill>
                  <a:srgbClr val="3C3C41"/>
                </a:solidFill>
                <a:latin typeface="Mulish"/>
                <a:ea typeface="Mulish"/>
                <a:cs typeface="Mulish"/>
                <a:sym typeface="Mulish"/>
              </a:rPr>
              <a:t>-Traditional flow : Resume -&gt; Keywords -&gt; Score </a:t>
            </a:r>
            <a:endParaRPr sz="1000">
              <a:solidFill>
                <a:srgbClr val="3C3C41"/>
              </a:solidFill>
              <a:latin typeface="Mulish"/>
              <a:ea typeface="Mulish"/>
              <a:cs typeface="Mulish"/>
              <a:sym typeface="Mulish"/>
            </a:endParaRPr>
          </a:p>
          <a:p>
            <a:pPr indent="0" lvl="0" marL="0" marR="0" rtl="0" algn="l">
              <a:spcBef>
                <a:spcPts val="300"/>
              </a:spcBef>
              <a:spcAft>
                <a:spcPts val="0"/>
              </a:spcAft>
              <a:buNone/>
            </a:pPr>
            <a:r>
              <a:rPr lang="en-US" sz="1000">
                <a:solidFill>
                  <a:srgbClr val="3C3C41"/>
                </a:solidFill>
                <a:latin typeface="Mulish"/>
                <a:ea typeface="Mulish"/>
                <a:cs typeface="Mulish"/>
                <a:sym typeface="Mulish"/>
              </a:rPr>
              <a:t>-CareerLens flow : Resume -&gt; Claims -&gt; Real proof of work -&gt;         Evidence strength -&gt; Claim verification -&gt; Role requirements -&gt;   Explainable score -&gt; Skill gap -&gt; Action plan</a:t>
            </a:r>
            <a:endParaRPr sz="1000">
              <a:solidFill>
                <a:srgbClr val="3C3C41"/>
              </a:solidFill>
              <a:latin typeface="Mulish"/>
              <a:ea typeface="Mulish"/>
              <a:cs typeface="Mulish"/>
              <a:sym typeface="Mulish"/>
            </a:endParaRPr>
          </a:p>
          <a:p>
            <a:pPr indent="0" lvl="0" marL="0" marR="0" rtl="0" algn="l">
              <a:spcBef>
                <a:spcPts val="300"/>
              </a:spcBef>
              <a:spcAft>
                <a:spcPts val="0"/>
              </a:spcAft>
              <a:buNone/>
            </a:pPr>
            <a:r>
              <a:rPr lang="en-US" sz="1000">
                <a:solidFill>
                  <a:srgbClr val="3C3C41"/>
                </a:solidFill>
                <a:latin typeface="Mulish"/>
                <a:ea typeface="Mulish"/>
                <a:cs typeface="Mulish"/>
                <a:sym typeface="Mulish"/>
              </a:rPr>
              <a:t>-Key improvement: CareerLens evaluates evidence, not just presence of keywords. </a:t>
            </a:r>
            <a:endParaRPr/>
          </a:p>
        </p:txBody>
      </p:sp>
      <p:sp>
        <p:nvSpPr>
          <p:cNvPr id="195" name="Google Shape;195;p3"/>
          <p:cNvSpPr/>
          <p:nvPr/>
        </p:nvSpPr>
        <p:spPr>
          <a:xfrm>
            <a:off x="6492240" y="4846320"/>
            <a:ext cx="4572000" cy="16917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 name="Google Shape;196;p3"/>
          <p:cNvSpPr/>
          <p:nvPr/>
        </p:nvSpPr>
        <p:spPr>
          <a:xfrm>
            <a:off x="6812280" y="4718304"/>
            <a:ext cx="1600200" cy="255900"/>
          </a:xfrm>
          <a:prstGeom prst="roundRect">
            <a:avLst>
              <a:gd fmla="val 50000" name="adj"/>
            </a:avLst>
          </a:prstGeom>
          <a:solidFill>
            <a:srgbClr val="FD1485"/>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INNOVATION</a:t>
            </a:r>
            <a:endParaRPr/>
          </a:p>
        </p:txBody>
      </p:sp>
      <p:sp>
        <p:nvSpPr>
          <p:cNvPr id="197" name="Google Shape;197;p3"/>
          <p:cNvSpPr txBox="1"/>
          <p:nvPr/>
        </p:nvSpPr>
        <p:spPr>
          <a:xfrm>
            <a:off x="6766560" y="5074920"/>
            <a:ext cx="4023300" cy="1046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53334"/>
                </a:solidFill>
                <a:latin typeface="Fjalla One"/>
                <a:ea typeface="Fjalla One"/>
                <a:cs typeface="Fjalla One"/>
                <a:sym typeface="Fjalla One"/>
              </a:rPr>
              <a:t>WHAT IS DIFFERENT</a:t>
            </a:r>
            <a:endParaRPr/>
          </a:p>
          <a:p>
            <a:pPr indent="0" lvl="0" marL="0" marR="0" rtl="0" algn="l">
              <a:spcBef>
                <a:spcPts val="300"/>
              </a:spcBef>
              <a:spcAft>
                <a:spcPts val="0"/>
              </a:spcAft>
              <a:buNone/>
            </a:pPr>
            <a:r>
              <a:rPr lang="en-US" sz="1000">
                <a:solidFill>
                  <a:srgbClr val="3C3C41"/>
                </a:solidFill>
                <a:latin typeface="Mulish"/>
                <a:ea typeface="Mulish"/>
                <a:cs typeface="Mulish"/>
                <a:sym typeface="Mulish"/>
              </a:rPr>
              <a:t>1.Claim-Evidence Engine </a:t>
            </a:r>
            <a:endParaRPr sz="1000">
              <a:solidFill>
                <a:srgbClr val="3C3C41"/>
              </a:solidFill>
              <a:latin typeface="Mulish"/>
              <a:ea typeface="Mulish"/>
              <a:cs typeface="Mulish"/>
              <a:sym typeface="Mulish"/>
            </a:endParaRPr>
          </a:p>
          <a:p>
            <a:pPr indent="0" lvl="0" marL="0" marR="0" rtl="0" algn="l">
              <a:spcBef>
                <a:spcPts val="300"/>
              </a:spcBef>
              <a:spcAft>
                <a:spcPts val="0"/>
              </a:spcAft>
              <a:buNone/>
            </a:pPr>
            <a:r>
              <a:rPr lang="en-US" sz="1000">
                <a:solidFill>
                  <a:srgbClr val="3C3C41"/>
                </a:solidFill>
                <a:latin typeface="Mulish"/>
                <a:ea typeface="Mulish"/>
                <a:cs typeface="Mulish"/>
                <a:sym typeface="Mulish"/>
              </a:rPr>
              <a:t>2.Explainable Readiness </a:t>
            </a:r>
            <a:endParaRPr sz="1000">
              <a:solidFill>
                <a:srgbClr val="3C3C41"/>
              </a:solidFill>
              <a:latin typeface="Mulish"/>
              <a:ea typeface="Mulish"/>
              <a:cs typeface="Mulish"/>
              <a:sym typeface="Mulish"/>
            </a:endParaRPr>
          </a:p>
          <a:p>
            <a:pPr indent="0" lvl="0" marL="0" marR="0" rtl="0" algn="l">
              <a:spcBef>
                <a:spcPts val="300"/>
              </a:spcBef>
              <a:spcAft>
                <a:spcPts val="0"/>
              </a:spcAft>
              <a:buNone/>
            </a:pPr>
            <a:r>
              <a:rPr lang="en-US" sz="1000">
                <a:solidFill>
                  <a:srgbClr val="3C3C41"/>
                </a:solidFill>
                <a:latin typeface="Mulish"/>
                <a:ea typeface="Mulish"/>
                <a:cs typeface="Mulish"/>
                <a:sym typeface="Mulish"/>
              </a:rPr>
              <a:t>3.What-If Career Simulator </a:t>
            </a:r>
            <a:endParaRPr sz="1000">
              <a:solidFill>
                <a:srgbClr val="3C3C41"/>
              </a:solidFill>
              <a:latin typeface="Mulish"/>
              <a:ea typeface="Mulish"/>
              <a:cs typeface="Mulish"/>
              <a:sym typeface="Mulish"/>
            </a:endParaRPr>
          </a:p>
          <a:p>
            <a:pPr indent="0" lvl="0" marL="0" marR="0" rtl="0" algn="l">
              <a:spcBef>
                <a:spcPts val="300"/>
              </a:spcBef>
              <a:spcAft>
                <a:spcPts val="0"/>
              </a:spcAft>
              <a:buNone/>
            </a:pPr>
            <a:r>
              <a:rPr lang="en-US" sz="1000">
                <a:solidFill>
                  <a:srgbClr val="3C3C41"/>
                </a:solidFill>
                <a:latin typeface="Mulish"/>
                <a:ea typeface="Mulish"/>
                <a:cs typeface="Mulish"/>
                <a:sym typeface="Mulish"/>
              </a:rPr>
              <a:t>4.Student + Institution in one system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
          <p:cNvSpPr/>
          <p:nvPr/>
        </p:nvSpPr>
        <p:spPr>
          <a:xfrm>
            <a:off x="150" y="-135350"/>
            <a:ext cx="12191700" cy="6858000"/>
          </a:xfrm>
          <a:prstGeom prst="rect">
            <a:avLst/>
          </a:prstGeom>
          <a:solidFill>
            <a:srgbClr val="FFFFF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 name="Google Shape;203;p4"/>
          <p:cNvSpPr/>
          <p:nvPr/>
        </p:nvSpPr>
        <p:spPr>
          <a:xfrm>
            <a:off x="-182880" y="1051560"/>
            <a:ext cx="1051500" cy="329100"/>
          </a:xfrm>
          <a:prstGeom prst="roundRect">
            <a:avLst>
              <a:gd fmla="val 50000" name="adj"/>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 name="Google Shape;204;p4"/>
          <p:cNvSpPr/>
          <p:nvPr/>
        </p:nvSpPr>
        <p:spPr>
          <a:xfrm>
            <a:off x="-182880" y="1453896"/>
            <a:ext cx="1463100" cy="329100"/>
          </a:xfrm>
          <a:prstGeom prst="roundRect">
            <a:avLst>
              <a:gd fmla="val 50000" name="adj"/>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 name="Google Shape;205;p4"/>
          <p:cNvSpPr/>
          <p:nvPr/>
        </p:nvSpPr>
        <p:spPr>
          <a:xfrm>
            <a:off x="-182880" y="1856232"/>
            <a:ext cx="1051500" cy="329100"/>
          </a:xfrm>
          <a:prstGeom prst="roundRect">
            <a:avLst>
              <a:gd fmla="val 50000" name="adj"/>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4"/>
          <p:cNvSpPr/>
          <p:nvPr/>
        </p:nvSpPr>
        <p:spPr>
          <a:xfrm>
            <a:off x="11521440" y="5486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 name="Google Shape;207;p4"/>
          <p:cNvSpPr/>
          <p:nvPr/>
        </p:nvSpPr>
        <p:spPr>
          <a:xfrm>
            <a:off x="11521440" y="7132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8" name="Google Shape;208;p4"/>
          <p:cNvSpPr/>
          <p:nvPr/>
        </p:nvSpPr>
        <p:spPr>
          <a:xfrm>
            <a:off x="11521440" y="8778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9" name="Google Shape;209;p4"/>
          <p:cNvSpPr/>
          <p:nvPr/>
        </p:nvSpPr>
        <p:spPr>
          <a:xfrm>
            <a:off x="11521440" y="10424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4"/>
          <p:cNvSpPr/>
          <p:nvPr/>
        </p:nvSpPr>
        <p:spPr>
          <a:xfrm>
            <a:off x="548640" y="55778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1" name="Google Shape;211;p4"/>
          <p:cNvSpPr/>
          <p:nvPr/>
        </p:nvSpPr>
        <p:spPr>
          <a:xfrm>
            <a:off x="548640" y="57424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4"/>
          <p:cNvSpPr/>
          <p:nvPr/>
        </p:nvSpPr>
        <p:spPr>
          <a:xfrm>
            <a:off x="548640" y="59070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3" name="Google Shape;213;p4"/>
          <p:cNvSpPr/>
          <p:nvPr/>
        </p:nvSpPr>
        <p:spPr>
          <a:xfrm>
            <a:off x="548640" y="60716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4"/>
          <p:cNvSpPr/>
          <p:nvPr/>
        </p:nvSpPr>
        <p:spPr>
          <a:xfrm>
            <a:off x="11087100" y="5934075"/>
            <a:ext cx="3201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5" name="Google Shape;215;p4"/>
          <p:cNvSpPr/>
          <p:nvPr/>
        </p:nvSpPr>
        <p:spPr>
          <a:xfrm>
            <a:off x="11237595" y="5783580"/>
            <a:ext cx="19200" cy="3201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 name="Google Shape;216;p4"/>
          <p:cNvSpPr/>
          <p:nvPr/>
        </p:nvSpPr>
        <p:spPr>
          <a:xfrm>
            <a:off x="11192256" y="5888736"/>
            <a:ext cx="109800" cy="1098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 name="Google Shape;217;p4"/>
          <p:cNvSpPr/>
          <p:nvPr/>
        </p:nvSpPr>
        <p:spPr>
          <a:xfrm>
            <a:off x="8412480" y="640080"/>
            <a:ext cx="1005900" cy="822900"/>
          </a:xfrm>
          <a:prstGeom prst="arc">
            <a:avLst>
              <a:gd fmla="val 16200000" name="adj1"/>
              <a:gd fmla="val 0" name="adj2"/>
            </a:avLst>
          </a:prstGeom>
          <a:noFill/>
          <a:ln cap="flat" cmpd="sng" w="19050">
            <a:solidFill>
              <a:srgbClr val="079ED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 name="Google Shape;218;p4"/>
          <p:cNvSpPr/>
          <p:nvPr/>
        </p:nvSpPr>
        <p:spPr>
          <a:xfrm>
            <a:off x="8371332" y="101041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 name="Google Shape;219;p4"/>
          <p:cNvSpPr/>
          <p:nvPr/>
        </p:nvSpPr>
        <p:spPr>
          <a:xfrm>
            <a:off x="9377172" y="59893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 name="Google Shape;220;p4"/>
          <p:cNvSpPr txBox="1"/>
          <p:nvPr/>
        </p:nvSpPr>
        <p:spPr>
          <a:xfrm>
            <a:off x="1645920" y="384048"/>
            <a:ext cx="8229600" cy="274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353334"/>
                </a:solidFill>
                <a:latin typeface="Mulish"/>
                <a:ea typeface="Mulish"/>
                <a:cs typeface="Mulish"/>
                <a:sym typeface="Mulish"/>
              </a:rPr>
              <a:t>DATAQUEST 3.0  ·  ROUND 1</a:t>
            </a:r>
            <a:endParaRPr/>
          </a:p>
        </p:txBody>
      </p:sp>
      <p:sp>
        <p:nvSpPr>
          <p:cNvPr id="221" name="Google Shape;221;p4"/>
          <p:cNvSpPr txBox="1"/>
          <p:nvPr/>
        </p:nvSpPr>
        <p:spPr>
          <a:xfrm>
            <a:off x="1645920" y="621792"/>
            <a:ext cx="9144000" cy="777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FD1485"/>
                </a:solidFill>
                <a:latin typeface="Fjalla One"/>
                <a:ea typeface="Fjalla One"/>
                <a:cs typeface="Fjalla One"/>
                <a:sym typeface="Fjalla One"/>
              </a:rPr>
              <a:t>04  </a:t>
            </a:r>
            <a:r>
              <a:rPr b="1" lang="en-US" sz="3200">
                <a:solidFill>
                  <a:srgbClr val="353334"/>
                </a:solidFill>
                <a:latin typeface="Fjalla One"/>
                <a:ea typeface="Fjalla One"/>
                <a:cs typeface="Fjalla One"/>
                <a:sym typeface="Fjalla One"/>
              </a:rPr>
              <a:t>System Architecture</a:t>
            </a:r>
            <a:endParaRPr/>
          </a:p>
        </p:txBody>
      </p:sp>
      <p:sp>
        <p:nvSpPr>
          <p:cNvPr id="222" name="Google Shape;222;p4"/>
          <p:cNvSpPr/>
          <p:nvPr/>
        </p:nvSpPr>
        <p:spPr>
          <a:xfrm>
            <a:off x="1645935" y="1207127"/>
            <a:ext cx="1600200" cy="255900"/>
          </a:xfrm>
          <a:prstGeom prst="roundRect">
            <a:avLst>
              <a:gd fmla="val 50000" name="adj"/>
            </a:avLst>
          </a:prstGeom>
          <a:solidFill>
            <a:srgbClr val="353334"/>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SYSTEM DIAGRAM</a:t>
            </a:r>
            <a:endParaRPr/>
          </a:p>
        </p:txBody>
      </p:sp>
      <p:sp>
        <p:nvSpPr>
          <p:cNvPr id="223" name="Google Shape;223;p4"/>
          <p:cNvSpPr txBox="1"/>
          <p:nvPr/>
        </p:nvSpPr>
        <p:spPr>
          <a:xfrm>
            <a:off x="2103120" y="2834640"/>
            <a:ext cx="85038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400"/>
              </a:spcBef>
              <a:spcAft>
                <a:spcPts val="0"/>
              </a:spcAft>
              <a:buNone/>
            </a:pPr>
            <a:r>
              <a:t/>
            </a:r>
            <a:endParaRPr/>
          </a:p>
        </p:txBody>
      </p:sp>
      <p:pic>
        <p:nvPicPr>
          <p:cNvPr id="224" name="Google Shape;224;p4"/>
          <p:cNvPicPr preferRelativeResize="0"/>
          <p:nvPr/>
        </p:nvPicPr>
        <p:blipFill>
          <a:blip r:embed="rId3">
            <a:alphaModFix/>
          </a:blip>
          <a:stretch>
            <a:fillRect/>
          </a:stretch>
        </p:blipFill>
        <p:spPr>
          <a:xfrm>
            <a:off x="2737750" y="1700425"/>
            <a:ext cx="7473523" cy="4833874"/>
          </a:xfrm>
          <a:prstGeom prst="rect">
            <a:avLst/>
          </a:prstGeom>
          <a:noFill/>
          <a:ln cap="flat" cmpd="sng" w="38100">
            <a:solidFill>
              <a:schemeClr val="dk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h84f0212a2b3d31d_7_5"/>
          <p:cNvSpPr/>
          <p:nvPr/>
        </p:nvSpPr>
        <p:spPr>
          <a:xfrm>
            <a:off x="150" y="0"/>
            <a:ext cx="12191700" cy="6858000"/>
          </a:xfrm>
          <a:prstGeom prst="rect">
            <a:avLst/>
          </a:prstGeom>
          <a:solidFill>
            <a:srgbClr val="FFFFF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 name="Google Shape;230;h84f0212a2b3d31d_7_5"/>
          <p:cNvSpPr/>
          <p:nvPr/>
        </p:nvSpPr>
        <p:spPr>
          <a:xfrm>
            <a:off x="499275" y="412075"/>
            <a:ext cx="3489000" cy="58056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200"/>
              </a:spcBef>
              <a:spcAft>
                <a:spcPts val="0"/>
              </a:spcAft>
              <a:buSzPts val="1100"/>
              <a:buNone/>
            </a:pPr>
            <a:r>
              <a:t/>
            </a:r>
            <a:endParaRPr b="1" sz="1300">
              <a:solidFill>
                <a:schemeClr val="dk1"/>
              </a:solidFill>
            </a:endParaRPr>
          </a:p>
          <a:p>
            <a:pPr indent="0" lvl="0" marL="0" rtl="0" algn="l">
              <a:lnSpc>
                <a:spcPct val="115000"/>
              </a:lnSpc>
              <a:spcBef>
                <a:spcPts val="200"/>
              </a:spcBef>
              <a:spcAft>
                <a:spcPts val="0"/>
              </a:spcAft>
              <a:buSzPts val="1100"/>
              <a:buNone/>
            </a:pPr>
            <a:r>
              <a:t/>
            </a:r>
            <a:endParaRPr b="1" sz="1300">
              <a:solidFill>
                <a:schemeClr val="dk1"/>
              </a:solidFill>
            </a:endParaRPr>
          </a:p>
          <a:p>
            <a:pPr indent="0" lvl="0" marL="0" rtl="0" algn="l">
              <a:lnSpc>
                <a:spcPct val="115000"/>
              </a:lnSpc>
              <a:spcBef>
                <a:spcPts val="200"/>
              </a:spcBef>
              <a:spcAft>
                <a:spcPts val="0"/>
              </a:spcAft>
              <a:buSzPts val="1100"/>
              <a:buNone/>
            </a:pPr>
            <a:r>
              <a:t/>
            </a:r>
            <a:endParaRPr b="1" sz="1300">
              <a:solidFill>
                <a:schemeClr val="dk1"/>
              </a:solidFill>
            </a:endParaRPr>
          </a:p>
          <a:p>
            <a:pPr indent="0" lvl="0" marL="0" rtl="0" algn="l">
              <a:lnSpc>
                <a:spcPct val="115000"/>
              </a:lnSpc>
              <a:spcBef>
                <a:spcPts val="200"/>
              </a:spcBef>
              <a:spcAft>
                <a:spcPts val="0"/>
              </a:spcAft>
              <a:buSzPts val="1100"/>
              <a:buNone/>
            </a:pPr>
            <a:r>
              <a:t/>
            </a:r>
            <a:endParaRPr b="1" sz="1300">
              <a:solidFill>
                <a:schemeClr val="dk1"/>
              </a:solidFill>
            </a:endParaRPr>
          </a:p>
          <a:p>
            <a:pPr indent="0" lvl="0" marL="0" rtl="0" algn="l">
              <a:lnSpc>
                <a:spcPct val="115000"/>
              </a:lnSpc>
              <a:spcBef>
                <a:spcPts val="200"/>
              </a:spcBef>
              <a:spcAft>
                <a:spcPts val="0"/>
              </a:spcAft>
              <a:buSzPts val="1100"/>
              <a:buNone/>
            </a:pPr>
            <a:r>
              <a:rPr b="1" lang="en-US" sz="1100">
                <a:solidFill>
                  <a:schemeClr val="dk1"/>
                </a:solidFill>
                <a:latin typeface="Mulish"/>
                <a:ea typeface="Mulish"/>
                <a:cs typeface="Mulish"/>
                <a:sym typeface="Mulish"/>
              </a:rPr>
              <a:t>FRONTEND</a:t>
            </a:r>
            <a:endParaRPr b="1" sz="1100">
              <a:solidFill>
                <a:schemeClr val="dk1"/>
              </a:solidFill>
              <a:latin typeface="Mulish"/>
              <a:ea typeface="Mulish"/>
              <a:cs typeface="Mulish"/>
              <a:sym typeface="Mulish"/>
            </a:endParaRPr>
          </a:p>
          <a:p>
            <a:pPr indent="0" lvl="0" marL="0" rtl="0" algn="l">
              <a:lnSpc>
                <a:spcPct val="115000"/>
              </a:lnSpc>
              <a:spcBef>
                <a:spcPts val="200"/>
              </a:spcBef>
              <a:spcAft>
                <a:spcPts val="0"/>
              </a:spcAft>
              <a:buClr>
                <a:schemeClr val="dk1"/>
              </a:buClr>
              <a:buSzPts val="1100"/>
              <a:buFont typeface="Arial"/>
              <a:buNone/>
            </a:pPr>
            <a:r>
              <a:rPr b="1" lang="en-US" sz="800">
                <a:solidFill>
                  <a:schemeClr val="dk1"/>
                </a:solidFill>
                <a:latin typeface="Mulish"/>
                <a:ea typeface="Mulish"/>
                <a:cs typeface="Mulish"/>
                <a:sym typeface="Mulish"/>
              </a:rPr>
              <a:t>React + Vite + TypeScript + Tailwind CSS + Recharts</a:t>
            </a:r>
            <a:endParaRPr b="1" sz="800">
              <a:solidFill>
                <a:schemeClr val="dk1"/>
              </a:solidFill>
              <a:latin typeface="Mulish"/>
              <a:ea typeface="Mulish"/>
              <a:cs typeface="Mulish"/>
              <a:sym typeface="Mulish"/>
            </a:endParaRPr>
          </a:p>
          <a:p>
            <a:pPr indent="0" lvl="0" marL="0" rtl="0" algn="l">
              <a:lnSpc>
                <a:spcPct val="115000"/>
              </a:lnSpc>
              <a:spcBef>
                <a:spcPts val="200"/>
              </a:spcBef>
              <a:spcAft>
                <a:spcPts val="0"/>
              </a:spcAft>
              <a:buClr>
                <a:schemeClr val="dk1"/>
              </a:buClr>
              <a:buSzPts val="1100"/>
              <a:buFont typeface="Arial"/>
              <a:buNone/>
            </a:pPr>
            <a:r>
              <a:rPr lang="en-US" sz="900">
                <a:solidFill>
                  <a:schemeClr val="dk1"/>
                </a:solidFill>
                <a:latin typeface="Mulish"/>
                <a:ea typeface="Mulish"/>
                <a:cs typeface="Mulish"/>
                <a:sym typeface="Mulish"/>
              </a:rPr>
              <a:t>Why:</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rapid hackathon development</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reusable components</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interactive dashboards</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data visualization</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strong ecosystem</a:t>
            </a:r>
            <a:endParaRPr sz="900">
              <a:solidFill>
                <a:schemeClr val="dk1"/>
              </a:solidFill>
              <a:latin typeface="Mulish"/>
              <a:ea typeface="Mulish"/>
              <a:cs typeface="Mulish"/>
              <a:sym typeface="Mulish"/>
            </a:endParaRPr>
          </a:p>
          <a:p>
            <a:pPr indent="0" lvl="0" marL="0" rtl="0" algn="l">
              <a:lnSpc>
                <a:spcPct val="115000"/>
              </a:lnSpc>
              <a:spcBef>
                <a:spcPts val="200"/>
              </a:spcBef>
              <a:spcAft>
                <a:spcPts val="0"/>
              </a:spcAft>
              <a:buNone/>
            </a:pPr>
            <a:r>
              <a:rPr b="1" lang="en-US" sz="1100">
                <a:solidFill>
                  <a:schemeClr val="dk1"/>
                </a:solidFill>
                <a:latin typeface="Mulish"/>
                <a:ea typeface="Mulish"/>
                <a:cs typeface="Mulish"/>
                <a:sym typeface="Mulish"/>
              </a:rPr>
              <a:t>Backend</a:t>
            </a:r>
            <a:endParaRPr b="1" sz="1100">
              <a:solidFill>
                <a:schemeClr val="dk1"/>
              </a:solidFill>
              <a:latin typeface="Mulish"/>
              <a:ea typeface="Mulish"/>
              <a:cs typeface="Mulish"/>
              <a:sym typeface="Mulish"/>
            </a:endParaRPr>
          </a:p>
          <a:p>
            <a:pPr indent="0" lvl="0" marL="0" rtl="0" algn="l">
              <a:lnSpc>
                <a:spcPct val="115000"/>
              </a:lnSpc>
              <a:spcBef>
                <a:spcPts val="200"/>
              </a:spcBef>
              <a:spcAft>
                <a:spcPts val="0"/>
              </a:spcAft>
              <a:buNone/>
            </a:pPr>
            <a:r>
              <a:rPr b="1" lang="en-US" sz="800">
                <a:solidFill>
                  <a:schemeClr val="dk1"/>
                </a:solidFill>
                <a:latin typeface="Mulish"/>
                <a:ea typeface="Mulish"/>
                <a:cs typeface="Mulish"/>
                <a:sym typeface="Mulish"/>
              </a:rPr>
              <a:t>Pyt</a:t>
            </a:r>
            <a:r>
              <a:rPr b="1" lang="en-US" sz="900">
                <a:solidFill>
                  <a:schemeClr val="dk1"/>
                </a:solidFill>
                <a:latin typeface="Mulish"/>
                <a:ea typeface="Mulish"/>
                <a:cs typeface="Mulish"/>
                <a:sym typeface="Mulish"/>
              </a:rPr>
              <a:t>hon + FastAPI</a:t>
            </a:r>
            <a:endParaRPr b="1" sz="900">
              <a:solidFill>
                <a:schemeClr val="dk1"/>
              </a:solidFill>
              <a:latin typeface="Mulish"/>
              <a:ea typeface="Mulish"/>
              <a:cs typeface="Mulish"/>
              <a:sym typeface="Mulish"/>
            </a:endParaRPr>
          </a:p>
          <a:p>
            <a:pPr indent="0" lvl="0" marL="0" rtl="0" algn="l">
              <a:lnSpc>
                <a:spcPct val="115000"/>
              </a:lnSpc>
              <a:spcBef>
                <a:spcPts val="200"/>
              </a:spcBef>
              <a:spcAft>
                <a:spcPts val="0"/>
              </a:spcAft>
              <a:buNone/>
            </a:pPr>
            <a:r>
              <a:rPr lang="en-US" sz="900">
                <a:solidFill>
                  <a:schemeClr val="dk1"/>
                </a:solidFill>
                <a:latin typeface="Mulish"/>
                <a:ea typeface="Mulish"/>
                <a:cs typeface="Mulish"/>
                <a:sym typeface="Mulish"/>
              </a:rPr>
              <a:t>Why:</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rapid API development</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natural integration with Python AI/ML ecosystem</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asynchronous API support</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clean service separation</a:t>
            </a:r>
            <a:endParaRPr sz="900">
              <a:solidFill>
                <a:schemeClr val="dk1"/>
              </a:solidFill>
              <a:latin typeface="Mulish"/>
              <a:ea typeface="Mulish"/>
              <a:cs typeface="Mulish"/>
              <a:sym typeface="Mulish"/>
            </a:endParaRPr>
          </a:p>
          <a:p>
            <a:pPr indent="0" lvl="0" marL="457200" rtl="0" algn="l">
              <a:lnSpc>
                <a:spcPct val="115000"/>
              </a:lnSpc>
              <a:spcBef>
                <a:spcPts val="200"/>
              </a:spcBef>
              <a:spcAft>
                <a:spcPts val="0"/>
              </a:spcAft>
              <a:buNone/>
            </a:pPr>
            <a:r>
              <a:t/>
            </a:r>
            <a:endParaRPr sz="800">
              <a:solidFill>
                <a:schemeClr val="dk1"/>
              </a:solidFill>
              <a:latin typeface="Mulish"/>
              <a:ea typeface="Mulish"/>
              <a:cs typeface="Mulish"/>
              <a:sym typeface="Mulish"/>
            </a:endParaRPr>
          </a:p>
          <a:p>
            <a:pPr indent="0" lvl="0" marL="0" rtl="0" algn="l">
              <a:lnSpc>
                <a:spcPct val="115000"/>
              </a:lnSpc>
              <a:spcBef>
                <a:spcPts val="200"/>
              </a:spcBef>
              <a:spcAft>
                <a:spcPts val="0"/>
              </a:spcAft>
              <a:buNone/>
            </a:pPr>
            <a:r>
              <a:rPr b="1" lang="en-US" sz="1100">
                <a:solidFill>
                  <a:schemeClr val="dk1"/>
                </a:solidFill>
                <a:latin typeface="Mulish"/>
                <a:ea typeface="Mulish"/>
                <a:cs typeface="Mulish"/>
                <a:sym typeface="Mulish"/>
              </a:rPr>
              <a:t>Intelligence &amp; Data</a:t>
            </a:r>
            <a:endParaRPr b="1" sz="1100">
              <a:solidFill>
                <a:schemeClr val="dk1"/>
              </a:solidFill>
              <a:latin typeface="Mulish"/>
              <a:ea typeface="Mulish"/>
              <a:cs typeface="Mulish"/>
              <a:sym typeface="Mulish"/>
            </a:endParaRPr>
          </a:p>
          <a:p>
            <a:pPr indent="0" lvl="0" marL="0" rtl="0" algn="l">
              <a:lnSpc>
                <a:spcPct val="115000"/>
              </a:lnSpc>
              <a:spcBef>
                <a:spcPts val="200"/>
              </a:spcBef>
              <a:spcAft>
                <a:spcPts val="0"/>
              </a:spcAft>
              <a:buNone/>
            </a:pPr>
            <a:r>
              <a:rPr b="1" lang="en-US" sz="900">
                <a:solidFill>
                  <a:schemeClr val="dk1"/>
                </a:solidFill>
                <a:latin typeface="Mulish"/>
                <a:ea typeface="Mulish"/>
                <a:cs typeface="Mulish"/>
                <a:sym typeface="Mulish"/>
              </a:rPr>
              <a:t>LLM + GitHub REST API + Embeddings + PostgreSQL/SQLite</a:t>
            </a:r>
            <a:endParaRPr b="1" sz="900">
              <a:solidFill>
                <a:schemeClr val="dk1"/>
              </a:solidFill>
              <a:latin typeface="Mulish"/>
              <a:ea typeface="Mulish"/>
              <a:cs typeface="Mulish"/>
              <a:sym typeface="Mulish"/>
            </a:endParaRPr>
          </a:p>
          <a:p>
            <a:pPr indent="0" lvl="0" marL="0" rtl="0" algn="l">
              <a:lnSpc>
                <a:spcPct val="115000"/>
              </a:lnSpc>
              <a:spcBef>
                <a:spcPts val="200"/>
              </a:spcBef>
              <a:spcAft>
                <a:spcPts val="0"/>
              </a:spcAft>
              <a:buNone/>
            </a:pPr>
            <a:r>
              <a:rPr lang="en-US" sz="900">
                <a:solidFill>
                  <a:schemeClr val="dk1"/>
                </a:solidFill>
                <a:latin typeface="Mulish"/>
                <a:ea typeface="Mulish"/>
                <a:cs typeface="Mulish"/>
                <a:sym typeface="Mulish"/>
              </a:rPr>
              <a:t>LLM:</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structured resume extraction</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claim extraction</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explanations</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roadmap generation</a:t>
            </a:r>
            <a:endParaRPr sz="900">
              <a:solidFill>
                <a:schemeClr val="dk1"/>
              </a:solidFill>
              <a:latin typeface="Mulish"/>
              <a:ea typeface="Mulish"/>
              <a:cs typeface="Mulish"/>
              <a:sym typeface="Mulish"/>
            </a:endParaRPr>
          </a:p>
          <a:p>
            <a:pPr indent="0" lvl="0" marL="0" rtl="0" algn="l">
              <a:lnSpc>
                <a:spcPct val="115000"/>
              </a:lnSpc>
              <a:spcBef>
                <a:spcPts val="200"/>
              </a:spcBef>
              <a:spcAft>
                <a:spcPts val="0"/>
              </a:spcAft>
              <a:buNone/>
            </a:pPr>
            <a:r>
              <a:rPr lang="en-US" sz="900">
                <a:solidFill>
                  <a:schemeClr val="dk1"/>
                </a:solidFill>
                <a:latin typeface="Mulish"/>
                <a:ea typeface="Mulish"/>
                <a:cs typeface="Mulish"/>
                <a:sym typeface="Mulish"/>
              </a:rPr>
              <a:t>Deterministic logic:</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GitHub statistics</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repository signals</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evidence scoring</a:t>
            </a:r>
            <a:endParaRPr sz="900">
              <a:solidFill>
                <a:schemeClr val="dk1"/>
              </a:solidFill>
              <a:latin typeface="Mulish"/>
              <a:ea typeface="Mulish"/>
              <a:cs typeface="Mulish"/>
              <a:sym typeface="Mulish"/>
            </a:endParaRPr>
          </a:p>
          <a:p>
            <a:pPr indent="-285750" lvl="0" marL="457200" rtl="0" algn="l">
              <a:lnSpc>
                <a:spcPct val="115000"/>
              </a:lnSpc>
              <a:spcBef>
                <a:spcPts val="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readiness calculations</a:t>
            </a:r>
            <a:endParaRPr sz="900">
              <a:solidFill>
                <a:schemeClr val="dk1"/>
              </a:solidFill>
              <a:latin typeface="Mulish"/>
              <a:ea typeface="Mulish"/>
              <a:cs typeface="Mulish"/>
              <a:sym typeface="Mulish"/>
            </a:endParaRPr>
          </a:p>
          <a:p>
            <a:pPr indent="0" lvl="0" marL="0" rtl="0" algn="l">
              <a:lnSpc>
                <a:spcPct val="115000"/>
              </a:lnSpc>
              <a:spcBef>
                <a:spcPts val="200"/>
              </a:spcBef>
              <a:spcAft>
                <a:spcPts val="0"/>
              </a:spcAft>
              <a:buNone/>
            </a:pPr>
            <a:r>
              <a:rPr lang="en-US" sz="900">
                <a:solidFill>
                  <a:schemeClr val="dk1"/>
                </a:solidFill>
                <a:latin typeface="Mulish"/>
                <a:ea typeface="Mulish"/>
                <a:cs typeface="Mulish"/>
                <a:sym typeface="Mulish"/>
              </a:rPr>
              <a:t>This separation is intentional.</a:t>
            </a:r>
            <a:endParaRPr sz="900">
              <a:solidFill>
                <a:schemeClr val="dk1"/>
              </a:solidFill>
              <a:latin typeface="Mulish"/>
              <a:ea typeface="Mulish"/>
              <a:cs typeface="Mulish"/>
              <a:sym typeface="Mulish"/>
            </a:endParaRPr>
          </a:p>
          <a:p>
            <a:pPr indent="0" lvl="0" marL="0" rtl="0" algn="l">
              <a:lnSpc>
                <a:spcPct val="115000"/>
              </a:lnSpc>
              <a:spcBef>
                <a:spcPts val="1200"/>
              </a:spcBef>
              <a:spcAft>
                <a:spcPts val="0"/>
              </a:spcAft>
              <a:buNone/>
            </a:pPr>
            <a:r>
              <a:t/>
            </a:r>
            <a:endParaRPr sz="9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ctr">
              <a:spcBef>
                <a:spcPts val="1200"/>
              </a:spcBef>
              <a:spcAft>
                <a:spcPts val="0"/>
              </a:spcAft>
              <a:buNone/>
            </a:pPr>
            <a:r>
              <a:t/>
            </a:r>
            <a:endParaRPr sz="1800">
              <a:solidFill>
                <a:schemeClr val="lt1"/>
              </a:solidFill>
              <a:latin typeface="Calibri"/>
              <a:ea typeface="Calibri"/>
              <a:cs typeface="Calibri"/>
              <a:sym typeface="Calibri"/>
            </a:endParaRPr>
          </a:p>
        </p:txBody>
      </p:sp>
      <p:sp>
        <p:nvSpPr>
          <p:cNvPr id="231" name="Google Shape;231;h84f0212a2b3d31d_7_5"/>
          <p:cNvSpPr/>
          <p:nvPr/>
        </p:nvSpPr>
        <p:spPr>
          <a:xfrm>
            <a:off x="2319060" y="246424"/>
            <a:ext cx="1600200" cy="255900"/>
          </a:xfrm>
          <a:prstGeom prst="roundRect">
            <a:avLst>
              <a:gd fmla="val 50000" name="adj"/>
            </a:avLst>
          </a:prstGeom>
          <a:solidFill>
            <a:srgbClr val="FFB903"/>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353334"/>
                </a:solidFill>
                <a:latin typeface="Mulish"/>
                <a:ea typeface="Mulish"/>
                <a:cs typeface="Mulish"/>
                <a:sym typeface="Mulish"/>
              </a:rPr>
              <a:t>TECH 01</a:t>
            </a:r>
            <a:endParaRPr/>
          </a:p>
        </p:txBody>
      </p:sp>
      <p:sp>
        <p:nvSpPr>
          <p:cNvPr id="232" name="Google Shape;232;h84f0212a2b3d31d_7_5"/>
          <p:cNvSpPr/>
          <p:nvPr/>
        </p:nvSpPr>
        <p:spPr>
          <a:xfrm>
            <a:off x="4439650" y="411925"/>
            <a:ext cx="3489000" cy="58056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1100">
                <a:solidFill>
                  <a:srgbClr val="353334"/>
                </a:solidFill>
                <a:latin typeface="Mulish"/>
                <a:ea typeface="Mulish"/>
                <a:cs typeface="Mulish"/>
                <a:sym typeface="Mulish"/>
              </a:rPr>
              <a:t>HARDEST PART</a:t>
            </a:r>
            <a:endParaRPr b="1" sz="1300">
              <a:solidFill>
                <a:schemeClr val="dk1"/>
              </a:solidFill>
              <a:latin typeface="Mulish"/>
              <a:ea typeface="Mulish"/>
              <a:cs typeface="Mulish"/>
              <a:sym typeface="Mulish"/>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latin typeface="Mulish"/>
                <a:ea typeface="Mulish"/>
                <a:cs typeface="Mulish"/>
                <a:sym typeface="Mulish"/>
              </a:rPr>
              <a:t>Claim → Evidence Mapping</a:t>
            </a:r>
            <a:endParaRPr b="1" sz="1100">
              <a:solidFill>
                <a:schemeClr val="dk1"/>
              </a:solidFill>
              <a:latin typeface="Mulish"/>
              <a:ea typeface="Mulish"/>
              <a:cs typeface="Mulish"/>
              <a:sym typeface="Mulish"/>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Mulish"/>
                <a:ea typeface="Mulish"/>
                <a:cs typeface="Mulish"/>
                <a:sym typeface="Mulish"/>
              </a:rPr>
              <a:t>The biggest technical challenge was </a:t>
            </a:r>
            <a:r>
              <a:rPr b="1" lang="en-US" sz="1100">
                <a:solidFill>
                  <a:schemeClr val="dk1"/>
                </a:solidFill>
                <a:latin typeface="Mulish"/>
                <a:ea typeface="Mulish"/>
                <a:cs typeface="Mulish"/>
                <a:sym typeface="Mulish"/>
              </a:rPr>
              <a:t>verifying whether a candidate’s claimed skills were actually supported by their work.</a:t>
            </a:r>
            <a:endParaRPr b="1" sz="1100">
              <a:solidFill>
                <a:schemeClr val="dk1"/>
              </a:solidFill>
              <a:latin typeface="Mulish"/>
              <a:ea typeface="Mulish"/>
              <a:cs typeface="Mulish"/>
              <a:sym typeface="Mulish"/>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latin typeface="Mulish"/>
                <a:ea typeface="Mulish"/>
                <a:cs typeface="Mulish"/>
                <a:sym typeface="Mulish"/>
              </a:rPr>
              <a:t>Challenge:</a:t>
            </a:r>
            <a:br>
              <a:rPr b="1" lang="en-US" sz="1100">
                <a:solidFill>
                  <a:schemeClr val="dk1"/>
                </a:solidFill>
                <a:latin typeface="Mulish"/>
                <a:ea typeface="Mulish"/>
                <a:cs typeface="Mulish"/>
                <a:sym typeface="Mulish"/>
              </a:rPr>
            </a:br>
            <a:r>
              <a:rPr lang="en-US" sz="1100">
                <a:solidFill>
                  <a:schemeClr val="dk1"/>
                </a:solidFill>
                <a:latin typeface="Mulish"/>
                <a:ea typeface="Mulish"/>
                <a:cs typeface="Mulish"/>
                <a:sym typeface="Mulish"/>
              </a:rPr>
              <a:t> Resume claims alone cannot prove technical expertise.</a:t>
            </a:r>
            <a:endParaRPr sz="1100">
              <a:solidFill>
                <a:schemeClr val="dk1"/>
              </a:solidFill>
              <a:latin typeface="Mulish"/>
              <a:ea typeface="Mulish"/>
              <a:cs typeface="Mulish"/>
              <a:sym typeface="Mulish"/>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latin typeface="Mulish"/>
                <a:ea typeface="Mulish"/>
                <a:cs typeface="Mulish"/>
                <a:sym typeface="Mulish"/>
              </a:rPr>
              <a:t>Our Approach:</a:t>
            </a:r>
            <a:br>
              <a:rPr b="1" lang="en-US" sz="1100">
                <a:solidFill>
                  <a:schemeClr val="dk1"/>
                </a:solidFill>
                <a:latin typeface="Mulish"/>
                <a:ea typeface="Mulish"/>
                <a:cs typeface="Mulish"/>
                <a:sym typeface="Mulish"/>
              </a:rPr>
            </a:br>
            <a:r>
              <a:rPr lang="en-US" sz="1100">
                <a:solidFill>
                  <a:schemeClr val="dk1"/>
                </a:solidFill>
                <a:latin typeface="Mulish"/>
                <a:ea typeface="Mulish"/>
                <a:cs typeface="Mulish"/>
                <a:sym typeface="Mulish"/>
              </a:rPr>
              <a:t> </a:t>
            </a:r>
            <a:r>
              <a:rPr b="1" lang="en-US" sz="1100">
                <a:solidFill>
                  <a:schemeClr val="dk1"/>
                </a:solidFill>
                <a:latin typeface="Mulish"/>
                <a:ea typeface="Mulish"/>
                <a:cs typeface="Mulish"/>
                <a:sym typeface="Mulish"/>
              </a:rPr>
              <a:t>Claim → Evidence Search → Evidence Strength → Verdict</a:t>
            </a:r>
            <a:endParaRPr b="1" sz="1100">
              <a:solidFill>
                <a:schemeClr val="dk1"/>
              </a:solidFill>
              <a:latin typeface="Mulish"/>
              <a:ea typeface="Mulish"/>
              <a:cs typeface="Mulish"/>
              <a:sym typeface="Mulish"/>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latin typeface="Mulish"/>
                <a:ea typeface="Mulish"/>
                <a:cs typeface="Mulish"/>
                <a:sym typeface="Mulish"/>
              </a:rPr>
              <a:t>Example:</a:t>
            </a:r>
            <a:br>
              <a:rPr b="1" lang="en-US" sz="1100">
                <a:solidFill>
                  <a:schemeClr val="dk1"/>
                </a:solidFill>
                <a:latin typeface="Mulish"/>
                <a:ea typeface="Mulish"/>
                <a:cs typeface="Mulish"/>
                <a:sym typeface="Mulish"/>
              </a:rPr>
            </a:br>
            <a:r>
              <a:rPr lang="en-US" sz="1100">
                <a:solidFill>
                  <a:schemeClr val="dk1"/>
                </a:solidFill>
                <a:latin typeface="Mulish"/>
                <a:ea typeface="Mulish"/>
                <a:cs typeface="Mulish"/>
                <a:sym typeface="Mulish"/>
              </a:rPr>
              <a:t> </a:t>
            </a:r>
            <a:r>
              <a:rPr b="1" lang="en-US" sz="1100">
                <a:solidFill>
                  <a:schemeClr val="dk1"/>
                </a:solidFill>
                <a:latin typeface="Mulish"/>
                <a:ea typeface="Mulish"/>
                <a:cs typeface="Mulish"/>
                <a:sym typeface="Mulish"/>
              </a:rPr>
              <a:t>“Expert in Docker”</a:t>
            </a:r>
            <a:r>
              <a:rPr lang="en-US" sz="1100">
                <a:solidFill>
                  <a:schemeClr val="dk1"/>
                </a:solidFill>
                <a:latin typeface="Mulish"/>
                <a:ea typeface="Mulish"/>
                <a:cs typeface="Mulish"/>
                <a:sym typeface="Mulish"/>
              </a:rPr>
              <a:t> → No Dockerfile / Compose / recent usage → </a:t>
            </a:r>
            <a:r>
              <a:rPr b="1" lang="en-US" sz="1100">
                <a:solidFill>
                  <a:schemeClr val="dk1"/>
                </a:solidFill>
                <a:latin typeface="Mulish"/>
                <a:ea typeface="Mulish"/>
                <a:cs typeface="Mulish"/>
                <a:sym typeface="Mulish"/>
              </a:rPr>
              <a:t>UNSUPPORTED</a:t>
            </a:r>
            <a:endParaRPr b="1" sz="1100">
              <a:solidFill>
                <a:schemeClr val="dk1"/>
              </a:solidFill>
              <a:latin typeface="Mulish"/>
              <a:ea typeface="Mulish"/>
              <a:cs typeface="Mulish"/>
              <a:sym typeface="Mulish"/>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latin typeface="Mulish"/>
                <a:ea typeface="Mulish"/>
                <a:cs typeface="Mulish"/>
                <a:sym typeface="Mulish"/>
              </a:rPr>
              <a:t>“Experienced in Python”</a:t>
            </a:r>
            <a:r>
              <a:rPr lang="en-US" sz="1100">
                <a:solidFill>
                  <a:schemeClr val="dk1"/>
                </a:solidFill>
                <a:latin typeface="Mulish"/>
                <a:ea typeface="Mulish"/>
                <a:cs typeface="Mulish"/>
                <a:sym typeface="Mulish"/>
              </a:rPr>
              <a:t> → 7 repositories + Python files + commits + tests → </a:t>
            </a:r>
            <a:r>
              <a:rPr b="1" lang="en-US" sz="1100">
                <a:solidFill>
                  <a:schemeClr val="dk1"/>
                </a:solidFill>
                <a:latin typeface="Mulish"/>
                <a:ea typeface="Mulish"/>
                <a:cs typeface="Mulish"/>
                <a:sym typeface="Mulish"/>
              </a:rPr>
              <a:t>VERIFIED</a:t>
            </a:r>
            <a:endParaRPr b="1" sz="1100">
              <a:solidFill>
                <a:schemeClr val="dk1"/>
              </a:solidFill>
              <a:latin typeface="Mulish"/>
              <a:ea typeface="Mulish"/>
              <a:cs typeface="Mulish"/>
              <a:sym typeface="Mulish"/>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latin typeface="Mulish"/>
                <a:ea typeface="Mulish"/>
                <a:cs typeface="Mulish"/>
                <a:sym typeface="Mulish"/>
              </a:rPr>
              <a:t>Key Insight:</a:t>
            </a:r>
            <a:br>
              <a:rPr b="1" lang="en-US" sz="1100">
                <a:solidFill>
                  <a:schemeClr val="dk1"/>
                </a:solidFill>
                <a:latin typeface="Mulish"/>
                <a:ea typeface="Mulish"/>
                <a:cs typeface="Mulish"/>
                <a:sym typeface="Mulish"/>
              </a:rPr>
            </a:br>
            <a:r>
              <a:rPr lang="en-US" sz="1100">
                <a:solidFill>
                  <a:schemeClr val="dk1"/>
                </a:solidFill>
                <a:latin typeface="Mulish"/>
                <a:ea typeface="Mulish"/>
                <a:cs typeface="Mulish"/>
                <a:sym typeface="Mulish"/>
              </a:rPr>
              <a:t> CareerLens validates skills using real, multi-source evidence—not claims alone.</a:t>
            </a:r>
            <a:endParaRPr sz="1100">
              <a:solidFill>
                <a:schemeClr val="dk1"/>
              </a:solidFill>
              <a:latin typeface="Mulish"/>
              <a:ea typeface="Mulish"/>
              <a:cs typeface="Mulish"/>
              <a:sym typeface="Mulish"/>
            </a:endParaRPr>
          </a:p>
          <a:p>
            <a:pPr indent="0" lvl="0" marL="0" rtl="0" algn="l">
              <a:spcBef>
                <a:spcPts val="1200"/>
              </a:spcBef>
              <a:spcAft>
                <a:spcPts val="0"/>
              </a:spcAft>
              <a:buClr>
                <a:schemeClr val="dk1"/>
              </a:buClr>
              <a:buFont typeface="Arial"/>
              <a:buNone/>
            </a:pPr>
            <a:r>
              <a:t/>
            </a:r>
            <a:endParaRPr sz="950">
              <a:solidFill>
                <a:srgbClr val="3C3C41"/>
              </a:solidFill>
              <a:latin typeface="Mulish"/>
              <a:ea typeface="Mulish"/>
              <a:cs typeface="Mulish"/>
              <a:sym typeface="Mulish"/>
            </a:endParaRPr>
          </a:p>
        </p:txBody>
      </p:sp>
      <p:sp>
        <p:nvSpPr>
          <p:cNvPr id="233" name="Google Shape;233;h84f0212a2b3d31d_7_5"/>
          <p:cNvSpPr/>
          <p:nvPr/>
        </p:nvSpPr>
        <p:spPr>
          <a:xfrm>
            <a:off x="8314625" y="412000"/>
            <a:ext cx="3489000" cy="58056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None/>
            </a:pPr>
            <a:r>
              <a:rPr b="1" lang="en-US" sz="1100">
                <a:solidFill>
                  <a:srgbClr val="353334"/>
                </a:solidFill>
                <a:latin typeface="Mulish"/>
                <a:ea typeface="Mulish"/>
                <a:cs typeface="Mulish"/>
                <a:sym typeface="Mulish"/>
              </a:rPr>
              <a:t>VALIDATION</a:t>
            </a:r>
            <a:endParaRPr b="1" sz="1300">
              <a:solidFill>
                <a:schemeClr val="dk1"/>
              </a:solidFill>
              <a:latin typeface="Mulish"/>
              <a:ea typeface="Mulish"/>
              <a:cs typeface="Mulish"/>
              <a:sym typeface="Mulish"/>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latin typeface="Mulish"/>
                <a:ea typeface="Mulish"/>
                <a:cs typeface="Mulish"/>
                <a:sym typeface="Mulish"/>
              </a:rPr>
              <a:t>We evaluate the prototype using 4 measurable parameters:</a:t>
            </a:r>
            <a:endParaRPr sz="1000">
              <a:solidFill>
                <a:schemeClr val="dk1"/>
              </a:solidFill>
              <a:latin typeface="Mulish"/>
              <a:ea typeface="Mulish"/>
              <a:cs typeface="Mulish"/>
              <a:sym typeface="Mulish"/>
            </a:endParaRPr>
          </a:p>
          <a:p>
            <a:pPr indent="0" lvl="0" marL="0" rtl="0" algn="l">
              <a:lnSpc>
                <a:spcPct val="115000"/>
              </a:lnSpc>
              <a:spcBef>
                <a:spcPts val="1200"/>
              </a:spcBef>
              <a:spcAft>
                <a:spcPts val="0"/>
              </a:spcAft>
              <a:buClr>
                <a:schemeClr val="dk1"/>
              </a:buClr>
              <a:buSzPts val="1100"/>
              <a:buFont typeface="Arial"/>
              <a:buNone/>
            </a:pPr>
            <a:r>
              <a:rPr b="1" lang="en-US" sz="1000">
                <a:solidFill>
                  <a:schemeClr val="dk1"/>
                </a:solidFill>
                <a:latin typeface="Mulish"/>
                <a:ea typeface="Mulish"/>
                <a:cs typeface="Mulish"/>
                <a:sym typeface="Mulish"/>
              </a:rPr>
              <a:t>1. Analysis Latency</a:t>
            </a:r>
            <a:br>
              <a:rPr lang="en-US" sz="1000">
                <a:solidFill>
                  <a:schemeClr val="dk1"/>
                </a:solidFill>
                <a:latin typeface="Mulish"/>
                <a:ea typeface="Mulish"/>
                <a:cs typeface="Mulish"/>
                <a:sym typeface="Mulish"/>
              </a:rPr>
            </a:br>
            <a:r>
              <a:rPr lang="en-US" sz="1000">
                <a:solidFill>
                  <a:schemeClr val="dk1"/>
                </a:solidFill>
                <a:latin typeface="Mulish"/>
                <a:ea typeface="Mulish"/>
                <a:cs typeface="Mulish"/>
                <a:sym typeface="Mulish"/>
              </a:rPr>
              <a:t> Upload → Dashboard</a:t>
            </a:r>
            <a:br>
              <a:rPr lang="en-US" sz="1000">
                <a:solidFill>
                  <a:schemeClr val="dk1"/>
                </a:solidFill>
                <a:latin typeface="Mulish"/>
                <a:ea typeface="Mulish"/>
                <a:cs typeface="Mulish"/>
                <a:sym typeface="Mulish"/>
              </a:rPr>
            </a:br>
            <a:r>
              <a:rPr lang="en-US" sz="1000">
                <a:solidFill>
                  <a:schemeClr val="dk1"/>
                </a:solidFill>
                <a:latin typeface="Mulish"/>
                <a:ea typeface="Mulish"/>
                <a:cs typeface="Mulish"/>
                <a:sym typeface="Mulish"/>
              </a:rPr>
              <a:t> → Test on 5+ profiles</a:t>
            </a:r>
            <a:br>
              <a:rPr lang="en-US" sz="1000">
                <a:solidFill>
                  <a:schemeClr val="dk1"/>
                </a:solidFill>
                <a:latin typeface="Mulish"/>
                <a:ea typeface="Mulish"/>
                <a:cs typeface="Mulish"/>
                <a:sym typeface="Mulish"/>
              </a:rPr>
            </a:br>
            <a:r>
              <a:rPr lang="en-US" sz="1000">
                <a:solidFill>
                  <a:schemeClr val="dk1"/>
                </a:solidFill>
                <a:latin typeface="Mulish"/>
                <a:ea typeface="Mulish"/>
                <a:cs typeface="Mulish"/>
                <a:sym typeface="Mulish"/>
              </a:rPr>
              <a:t> → Report median analysis time</a:t>
            </a:r>
            <a:endParaRPr sz="1000">
              <a:solidFill>
                <a:schemeClr val="dk1"/>
              </a:solidFill>
              <a:latin typeface="Mulish"/>
              <a:ea typeface="Mulish"/>
              <a:cs typeface="Mulish"/>
              <a:sym typeface="Mulish"/>
            </a:endParaRPr>
          </a:p>
          <a:p>
            <a:pPr indent="0" lvl="0" marL="0" rtl="0" algn="l">
              <a:lnSpc>
                <a:spcPct val="115000"/>
              </a:lnSpc>
              <a:spcBef>
                <a:spcPts val="1200"/>
              </a:spcBef>
              <a:spcAft>
                <a:spcPts val="0"/>
              </a:spcAft>
              <a:buClr>
                <a:schemeClr val="dk1"/>
              </a:buClr>
              <a:buSzPts val="1100"/>
              <a:buFont typeface="Arial"/>
              <a:buNone/>
            </a:pPr>
            <a:r>
              <a:rPr b="1" lang="en-US" sz="1000">
                <a:solidFill>
                  <a:schemeClr val="dk1"/>
                </a:solidFill>
                <a:latin typeface="Mulish"/>
                <a:ea typeface="Mulish"/>
                <a:cs typeface="Mulish"/>
                <a:sym typeface="Mulish"/>
              </a:rPr>
              <a:t>2. Extraction Quality</a:t>
            </a:r>
            <a:br>
              <a:rPr lang="en-US" sz="1000">
                <a:solidFill>
                  <a:schemeClr val="dk1"/>
                </a:solidFill>
                <a:latin typeface="Mulish"/>
                <a:ea typeface="Mulish"/>
                <a:cs typeface="Mulish"/>
                <a:sym typeface="Mulish"/>
              </a:rPr>
            </a:br>
            <a:r>
              <a:rPr lang="en-US" sz="1000">
                <a:solidFill>
                  <a:schemeClr val="dk1"/>
                </a:solidFill>
                <a:latin typeface="Mulish"/>
                <a:ea typeface="Mulish"/>
                <a:cs typeface="Mulish"/>
                <a:sym typeface="Mulish"/>
              </a:rPr>
              <a:t> 50 manually labelled skills/claims</a:t>
            </a:r>
            <a:br>
              <a:rPr lang="en-US" sz="1000">
                <a:solidFill>
                  <a:schemeClr val="dk1"/>
                </a:solidFill>
                <a:latin typeface="Mulish"/>
                <a:ea typeface="Mulish"/>
                <a:cs typeface="Mulish"/>
                <a:sym typeface="Mulish"/>
              </a:rPr>
            </a:br>
            <a:r>
              <a:rPr lang="en-US" sz="1000">
                <a:solidFill>
                  <a:schemeClr val="dk1"/>
                </a:solidFill>
                <a:latin typeface="Mulish"/>
                <a:ea typeface="Mulish"/>
                <a:cs typeface="Mulish"/>
                <a:sym typeface="Mulish"/>
              </a:rPr>
              <a:t> → Compare expected vs extracted</a:t>
            </a:r>
            <a:br>
              <a:rPr lang="en-US" sz="1000">
                <a:solidFill>
                  <a:schemeClr val="dk1"/>
                </a:solidFill>
                <a:latin typeface="Mulish"/>
                <a:ea typeface="Mulish"/>
                <a:cs typeface="Mulish"/>
                <a:sym typeface="Mulish"/>
              </a:rPr>
            </a:br>
            <a:r>
              <a:rPr lang="en-US" sz="1000">
                <a:solidFill>
                  <a:schemeClr val="dk1"/>
                </a:solidFill>
                <a:latin typeface="Mulish"/>
                <a:ea typeface="Mulish"/>
                <a:cs typeface="Mulish"/>
                <a:sym typeface="Mulish"/>
              </a:rPr>
              <a:t> → Measure precision &amp; recall</a:t>
            </a:r>
            <a:endParaRPr sz="1000">
              <a:solidFill>
                <a:schemeClr val="dk1"/>
              </a:solidFill>
              <a:latin typeface="Mulish"/>
              <a:ea typeface="Mulish"/>
              <a:cs typeface="Mulish"/>
              <a:sym typeface="Mulish"/>
            </a:endParaRPr>
          </a:p>
          <a:p>
            <a:pPr indent="0" lvl="0" marL="0" rtl="0" algn="l">
              <a:lnSpc>
                <a:spcPct val="115000"/>
              </a:lnSpc>
              <a:spcBef>
                <a:spcPts val="1200"/>
              </a:spcBef>
              <a:spcAft>
                <a:spcPts val="0"/>
              </a:spcAft>
              <a:buClr>
                <a:schemeClr val="dk1"/>
              </a:buClr>
              <a:buSzPts val="1100"/>
              <a:buFont typeface="Arial"/>
              <a:buNone/>
            </a:pPr>
            <a:r>
              <a:rPr b="1" lang="en-US" sz="1000">
                <a:solidFill>
                  <a:schemeClr val="dk1"/>
                </a:solidFill>
                <a:latin typeface="Mulish"/>
                <a:ea typeface="Mulish"/>
                <a:cs typeface="Mulish"/>
                <a:sym typeface="Mulish"/>
              </a:rPr>
              <a:t>3. Evidence Verification</a:t>
            </a:r>
            <a:br>
              <a:rPr lang="en-US" sz="1000">
                <a:solidFill>
                  <a:schemeClr val="dk1"/>
                </a:solidFill>
                <a:latin typeface="Mulish"/>
                <a:ea typeface="Mulish"/>
                <a:cs typeface="Mulish"/>
                <a:sym typeface="Mulish"/>
              </a:rPr>
            </a:br>
            <a:r>
              <a:rPr lang="en-US" sz="1000">
                <a:solidFill>
                  <a:schemeClr val="dk1"/>
                </a:solidFill>
                <a:latin typeface="Mulish"/>
                <a:ea typeface="Mulish"/>
                <a:cs typeface="Mulish"/>
                <a:sym typeface="Mulish"/>
              </a:rPr>
              <a:t> Test cases: Verified / Partial / Unsupported</a:t>
            </a:r>
            <a:br>
              <a:rPr lang="en-US" sz="1000">
                <a:solidFill>
                  <a:schemeClr val="dk1"/>
                </a:solidFill>
                <a:latin typeface="Mulish"/>
                <a:ea typeface="Mulish"/>
                <a:cs typeface="Mulish"/>
                <a:sym typeface="Mulish"/>
              </a:rPr>
            </a:br>
            <a:r>
              <a:rPr lang="en-US" sz="1000">
                <a:solidFill>
                  <a:schemeClr val="dk1"/>
                </a:solidFill>
                <a:latin typeface="Mulish"/>
                <a:ea typeface="Mulish"/>
                <a:cs typeface="Mulish"/>
                <a:sym typeface="Mulish"/>
              </a:rPr>
              <a:t> → Compare with human labels</a:t>
            </a:r>
            <a:br>
              <a:rPr lang="en-US" sz="1000">
                <a:solidFill>
                  <a:schemeClr val="dk1"/>
                </a:solidFill>
                <a:latin typeface="Mulish"/>
                <a:ea typeface="Mulish"/>
                <a:cs typeface="Mulish"/>
                <a:sym typeface="Mulish"/>
              </a:rPr>
            </a:br>
            <a:r>
              <a:rPr lang="en-US" sz="1000">
                <a:solidFill>
                  <a:schemeClr val="dk1"/>
                </a:solidFill>
                <a:latin typeface="Mulish"/>
                <a:ea typeface="Mulish"/>
                <a:cs typeface="Mulish"/>
                <a:sym typeface="Mulish"/>
              </a:rPr>
              <a:t> → Measure agreement</a:t>
            </a:r>
            <a:endParaRPr sz="1000">
              <a:solidFill>
                <a:schemeClr val="dk1"/>
              </a:solidFill>
              <a:latin typeface="Mulish"/>
              <a:ea typeface="Mulish"/>
              <a:cs typeface="Mulish"/>
              <a:sym typeface="Mulish"/>
            </a:endParaRPr>
          </a:p>
          <a:p>
            <a:pPr indent="0" lvl="0" marL="0" rtl="0" algn="l">
              <a:lnSpc>
                <a:spcPct val="115000"/>
              </a:lnSpc>
              <a:spcBef>
                <a:spcPts val="1200"/>
              </a:spcBef>
              <a:spcAft>
                <a:spcPts val="0"/>
              </a:spcAft>
              <a:buSzPts val="1100"/>
              <a:buNone/>
            </a:pPr>
            <a:r>
              <a:rPr b="1" lang="en-US" sz="1000">
                <a:solidFill>
                  <a:schemeClr val="dk1"/>
                </a:solidFill>
                <a:latin typeface="Mulish"/>
                <a:ea typeface="Mulish"/>
                <a:cs typeface="Mulish"/>
                <a:sym typeface="Mulish"/>
              </a:rPr>
              <a:t>4. API Reliability</a:t>
            </a:r>
            <a:br>
              <a:rPr lang="en-US" sz="1000">
                <a:solidFill>
                  <a:schemeClr val="dk1"/>
                </a:solidFill>
                <a:latin typeface="Mulish"/>
                <a:ea typeface="Mulish"/>
                <a:cs typeface="Mulish"/>
                <a:sym typeface="Mulish"/>
              </a:rPr>
            </a:br>
            <a:r>
              <a:rPr lang="en-US" sz="1000">
                <a:solidFill>
                  <a:schemeClr val="dk1"/>
                </a:solidFill>
                <a:latin typeface="Mulish"/>
                <a:ea typeface="Mulish"/>
                <a:cs typeface="Mulish"/>
                <a:sym typeface="Mulish"/>
              </a:rPr>
              <a:t> Run N analysis requests</a:t>
            </a:r>
            <a:br>
              <a:rPr lang="en-US" sz="1000">
                <a:solidFill>
                  <a:schemeClr val="dk1"/>
                </a:solidFill>
                <a:latin typeface="Mulish"/>
                <a:ea typeface="Mulish"/>
                <a:cs typeface="Mulish"/>
                <a:sym typeface="Mulish"/>
              </a:rPr>
            </a:br>
            <a:r>
              <a:rPr lang="en-US" sz="1000">
                <a:solidFill>
                  <a:schemeClr val="dk1"/>
                </a:solidFill>
                <a:latin typeface="Mulish"/>
                <a:ea typeface="Mulish"/>
                <a:cs typeface="Mulish"/>
                <a:sym typeface="Mulish"/>
              </a:rPr>
              <a:t> → Track successful completions</a:t>
            </a:r>
            <a:br>
              <a:rPr lang="en-US" sz="1000">
                <a:solidFill>
                  <a:schemeClr val="dk1"/>
                </a:solidFill>
                <a:latin typeface="Mulish"/>
                <a:ea typeface="Mulish"/>
                <a:cs typeface="Mulish"/>
                <a:sym typeface="Mulish"/>
              </a:rPr>
            </a:br>
            <a:r>
              <a:rPr lang="en-US" sz="1000">
                <a:solidFill>
                  <a:schemeClr val="dk1"/>
                </a:solidFill>
                <a:latin typeface="Mulish"/>
                <a:ea typeface="Mulish"/>
                <a:cs typeface="Mulish"/>
                <a:sym typeface="Mulish"/>
              </a:rPr>
              <a:t> → Report X/N success rate</a:t>
            </a:r>
            <a:endParaRPr sz="1000">
              <a:solidFill>
                <a:schemeClr val="dk1"/>
              </a:solidFill>
              <a:latin typeface="Mulish"/>
              <a:ea typeface="Mulish"/>
              <a:cs typeface="Mulish"/>
              <a:sym typeface="Mulish"/>
            </a:endParaRPr>
          </a:p>
          <a:p>
            <a:pPr indent="0" lvl="0" marL="0" rtl="0" algn="l">
              <a:lnSpc>
                <a:spcPct val="115000"/>
              </a:lnSpc>
              <a:spcBef>
                <a:spcPts val="1200"/>
              </a:spcBef>
              <a:spcAft>
                <a:spcPts val="0"/>
              </a:spcAft>
              <a:buSzPts val="1100"/>
              <a:buNone/>
            </a:pPr>
            <a:r>
              <a:rPr lang="en-US" sz="1000">
                <a:solidFill>
                  <a:schemeClr val="dk1"/>
                </a:solidFill>
                <a:latin typeface="Mulish"/>
                <a:ea typeface="Mulish"/>
                <a:cs typeface="Mulish"/>
                <a:sym typeface="Mulish"/>
              </a:rPr>
              <a:t>Key Principle:</a:t>
            </a:r>
            <a:endParaRPr sz="1000">
              <a:solidFill>
                <a:schemeClr val="dk1"/>
              </a:solidFill>
              <a:latin typeface="Mulish"/>
              <a:ea typeface="Mulish"/>
              <a:cs typeface="Mulish"/>
              <a:sym typeface="Mulish"/>
            </a:endParaRPr>
          </a:p>
          <a:p>
            <a:pPr indent="0" lvl="0" marL="0" rtl="0" algn="l">
              <a:lnSpc>
                <a:spcPct val="115000"/>
              </a:lnSpc>
              <a:spcBef>
                <a:spcPts val="200"/>
              </a:spcBef>
              <a:spcAft>
                <a:spcPts val="0"/>
              </a:spcAft>
              <a:buClr>
                <a:schemeClr val="dk1"/>
              </a:buClr>
              <a:buSzPts val="1100"/>
              <a:buFont typeface="Arial"/>
              <a:buNone/>
            </a:pPr>
            <a:r>
              <a:rPr lang="en-US" sz="1000">
                <a:solidFill>
                  <a:schemeClr val="dk1"/>
                </a:solidFill>
                <a:latin typeface="Mulish"/>
                <a:ea typeface="Mulish"/>
                <a:cs typeface="Mulish"/>
                <a:sym typeface="Mulish"/>
              </a:rPr>
              <a:t>Use measured results — never invent accuracy or performance numbers. </a:t>
            </a:r>
            <a:endParaRPr sz="1000">
              <a:solidFill>
                <a:schemeClr val="dk1"/>
              </a:solidFill>
              <a:latin typeface="Mulish"/>
              <a:ea typeface="Mulish"/>
              <a:cs typeface="Mulish"/>
              <a:sym typeface="Mulish"/>
            </a:endParaRPr>
          </a:p>
          <a:p>
            <a:pPr indent="0" lvl="0" marL="0" rtl="0" algn="l">
              <a:spcBef>
                <a:spcPts val="300"/>
              </a:spcBef>
              <a:spcAft>
                <a:spcPts val="0"/>
              </a:spcAft>
              <a:buNone/>
            </a:pPr>
            <a:r>
              <a:t/>
            </a:r>
            <a:endParaRPr sz="950">
              <a:solidFill>
                <a:srgbClr val="3C3C41"/>
              </a:solidFill>
              <a:latin typeface="Mulish"/>
              <a:ea typeface="Mulish"/>
              <a:cs typeface="Mulish"/>
              <a:sym typeface="Mulish"/>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h84f0212a2b3d31d_7_5"/>
          <p:cNvSpPr/>
          <p:nvPr/>
        </p:nvSpPr>
        <p:spPr>
          <a:xfrm>
            <a:off x="6060923" y="246424"/>
            <a:ext cx="1600200" cy="255900"/>
          </a:xfrm>
          <a:prstGeom prst="roundRect">
            <a:avLst>
              <a:gd fmla="val 50000" name="adj"/>
            </a:avLst>
          </a:prstGeom>
          <a:solidFill>
            <a:srgbClr val="FD1485"/>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TECH 02</a:t>
            </a:r>
            <a:endParaRPr/>
          </a:p>
        </p:txBody>
      </p:sp>
      <p:sp>
        <p:nvSpPr>
          <p:cNvPr id="235" name="Google Shape;235;h84f0212a2b3d31d_7_5"/>
          <p:cNvSpPr/>
          <p:nvPr/>
        </p:nvSpPr>
        <p:spPr>
          <a:xfrm>
            <a:off x="10004311" y="246424"/>
            <a:ext cx="1600200" cy="255900"/>
          </a:xfrm>
          <a:prstGeom prst="roundRect">
            <a:avLst>
              <a:gd fmla="val 50000" name="adj"/>
            </a:avLst>
          </a:prstGeom>
          <a:solidFill>
            <a:srgbClr val="079ED2"/>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TECH 03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5"/>
          <p:cNvSpPr/>
          <p:nvPr/>
        </p:nvSpPr>
        <p:spPr>
          <a:xfrm>
            <a:off x="0" y="0"/>
            <a:ext cx="12191700" cy="6858000"/>
          </a:xfrm>
          <a:prstGeom prst="rect">
            <a:avLst/>
          </a:prstGeom>
          <a:solidFill>
            <a:srgbClr val="FFFFF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41" name="Google Shape;241;p5"/>
          <p:cNvSpPr/>
          <p:nvPr/>
        </p:nvSpPr>
        <p:spPr>
          <a:xfrm>
            <a:off x="-182880" y="1051560"/>
            <a:ext cx="1051500" cy="329100"/>
          </a:xfrm>
          <a:prstGeom prst="roundRect">
            <a:avLst>
              <a:gd fmla="val 50000" name="adj"/>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42" name="Google Shape;242;p5"/>
          <p:cNvSpPr/>
          <p:nvPr/>
        </p:nvSpPr>
        <p:spPr>
          <a:xfrm>
            <a:off x="-182880" y="1453896"/>
            <a:ext cx="1463100" cy="329100"/>
          </a:xfrm>
          <a:prstGeom prst="roundRect">
            <a:avLst>
              <a:gd fmla="val 50000" name="adj"/>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43" name="Google Shape;243;p5"/>
          <p:cNvSpPr/>
          <p:nvPr/>
        </p:nvSpPr>
        <p:spPr>
          <a:xfrm>
            <a:off x="-182880" y="1856232"/>
            <a:ext cx="1051500" cy="329100"/>
          </a:xfrm>
          <a:prstGeom prst="roundRect">
            <a:avLst>
              <a:gd fmla="val 50000" name="adj"/>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44" name="Google Shape;244;p5"/>
          <p:cNvSpPr/>
          <p:nvPr/>
        </p:nvSpPr>
        <p:spPr>
          <a:xfrm>
            <a:off x="11521440" y="5486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45" name="Google Shape;245;p5"/>
          <p:cNvSpPr/>
          <p:nvPr/>
        </p:nvSpPr>
        <p:spPr>
          <a:xfrm>
            <a:off x="11521440" y="7132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46" name="Google Shape;246;p5"/>
          <p:cNvSpPr/>
          <p:nvPr/>
        </p:nvSpPr>
        <p:spPr>
          <a:xfrm>
            <a:off x="11521440" y="8778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47" name="Google Shape;247;p5"/>
          <p:cNvSpPr/>
          <p:nvPr/>
        </p:nvSpPr>
        <p:spPr>
          <a:xfrm>
            <a:off x="11521440" y="10424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48" name="Google Shape;248;p5"/>
          <p:cNvSpPr/>
          <p:nvPr/>
        </p:nvSpPr>
        <p:spPr>
          <a:xfrm>
            <a:off x="548640" y="55778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49" name="Google Shape;249;p5"/>
          <p:cNvSpPr/>
          <p:nvPr/>
        </p:nvSpPr>
        <p:spPr>
          <a:xfrm>
            <a:off x="548640" y="57424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50" name="Google Shape;250;p5"/>
          <p:cNvSpPr/>
          <p:nvPr/>
        </p:nvSpPr>
        <p:spPr>
          <a:xfrm>
            <a:off x="548640" y="59070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51" name="Google Shape;251;p5"/>
          <p:cNvSpPr/>
          <p:nvPr/>
        </p:nvSpPr>
        <p:spPr>
          <a:xfrm>
            <a:off x="548640" y="60716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52" name="Google Shape;252;p5"/>
          <p:cNvSpPr/>
          <p:nvPr/>
        </p:nvSpPr>
        <p:spPr>
          <a:xfrm>
            <a:off x="11087100" y="5934075"/>
            <a:ext cx="3201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53" name="Google Shape;253;p5"/>
          <p:cNvSpPr/>
          <p:nvPr/>
        </p:nvSpPr>
        <p:spPr>
          <a:xfrm>
            <a:off x="11237595" y="5783580"/>
            <a:ext cx="19200" cy="3201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54" name="Google Shape;254;p5"/>
          <p:cNvSpPr/>
          <p:nvPr/>
        </p:nvSpPr>
        <p:spPr>
          <a:xfrm>
            <a:off x="11192256" y="5888736"/>
            <a:ext cx="109800" cy="1098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55" name="Google Shape;255;p5"/>
          <p:cNvSpPr/>
          <p:nvPr/>
        </p:nvSpPr>
        <p:spPr>
          <a:xfrm>
            <a:off x="8412480" y="640080"/>
            <a:ext cx="1005900" cy="822900"/>
          </a:xfrm>
          <a:prstGeom prst="arc">
            <a:avLst>
              <a:gd fmla="val 16200000" name="adj1"/>
              <a:gd fmla="val 0" name="adj2"/>
            </a:avLst>
          </a:prstGeom>
          <a:noFill/>
          <a:ln cap="flat" cmpd="sng" w="19050">
            <a:solidFill>
              <a:srgbClr val="079ED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56" name="Google Shape;256;p5"/>
          <p:cNvSpPr/>
          <p:nvPr/>
        </p:nvSpPr>
        <p:spPr>
          <a:xfrm>
            <a:off x="8371332" y="101041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57" name="Google Shape;257;p5"/>
          <p:cNvSpPr/>
          <p:nvPr/>
        </p:nvSpPr>
        <p:spPr>
          <a:xfrm>
            <a:off x="9377172" y="59893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58" name="Google Shape;258;p5"/>
          <p:cNvSpPr txBox="1"/>
          <p:nvPr/>
        </p:nvSpPr>
        <p:spPr>
          <a:xfrm>
            <a:off x="1645920" y="384048"/>
            <a:ext cx="82296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353334"/>
                </a:solidFill>
                <a:latin typeface="Mulish"/>
                <a:ea typeface="Mulish"/>
                <a:cs typeface="Mulish"/>
                <a:sym typeface="Mulish"/>
              </a:rPr>
              <a:t>DATAQUEST 3.0  ·  ROUND 1</a:t>
            </a:r>
            <a:endParaRPr>
              <a:latin typeface="Mulish"/>
              <a:ea typeface="Mulish"/>
              <a:cs typeface="Mulish"/>
              <a:sym typeface="Mulish"/>
            </a:endParaRPr>
          </a:p>
        </p:txBody>
      </p:sp>
      <p:sp>
        <p:nvSpPr>
          <p:cNvPr id="259" name="Google Shape;259;p5"/>
          <p:cNvSpPr txBox="1"/>
          <p:nvPr/>
        </p:nvSpPr>
        <p:spPr>
          <a:xfrm>
            <a:off x="1645920" y="621792"/>
            <a:ext cx="9144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FD1485"/>
                </a:solidFill>
                <a:latin typeface="Fjalla One"/>
                <a:ea typeface="Fjalla One"/>
                <a:cs typeface="Fjalla One"/>
                <a:sym typeface="Fjalla One"/>
              </a:rPr>
              <a:t>05</a:t>
            </a:r>
            <a:r>
              <a:rPr b="1" lang="en-US" sz="3600">
                <a:solidFill>
                  <a:srgbClr val="FD1485"/>
                </a:solidFill>
                <a:latin typeface="Mulish"/>
                <a:ea typeface="Mulish"/>
                <a:cs typeface="Mulish"/>
                <a:sym typeface="Mulish"/>
              </a:rPr>
              <a:t>  </a:t>
            </a:r>
            <a:r>
              <a:rPr b="1" lang="en-US" sz="3200">
                <a:solidFill>
                  <a:srgbClr val="353334"/>
                </a:solidFill>
                <a:latin typeface="Fjalla One"/>
                <a:ea typeface="Fjalla One"/>
                <a:cs typeface="Fjalla One"/>
                <a:sym typeface="Fjalla One"/>
              </a:rPr>
              <a:t>Feasibility &amp; Scope</a:t>
            </a:r>
            <a:endParaRPr>
              <a:latin typeface="Fjalla One"/>
              <a:ea typeface="Fjalla One"/>
              <a:cs typeface="Fjalla One"/>
              <a:sym typeface="Fjalla One"/>
            </a:endParaRPr>
          </a:p>
        </p:txBody>
      </p:sp>
      <p:sp>
        <p:nvSpPr>
          <p:cNvPr id="260" name="Google Shape;260;p5"/>
          <p:cNvSpPr/>
          <p:nvPr/>
        </p:nvSpPr>
        <p:spPr>
          <a:xfrm>
            <a:off x="1645920" y="1444752"/>
            <a:ext cx="94182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61" name="Google Shape;261;p5"/>
          <p:cNvSpPr txBox="1"/>
          <p:nvPr/>
        </p:nvSpPr>
        <p:spPr>
          <a:xfrm>
            <a:off x="1645920" y="1517904"/>
            <a:ext cx="9418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6E6E73"/>
                </a:solidFill>
                <a:latin typeface="Mulish"/>
                <a:ea typeface="Mulish"/>
                <a:cs typeface="Mulish"/>
                <a:sym typeface="Mulish"/>
              </a:rPr>
              <a:t>Concrete boundaries · Operational run rate · Risk mitigation · Post-hackathon plans</a:t>
            </a:r>
            <a:endParaRPr>
              <a:latin typeface="Mulish"/>
              <a:ea typeface="Mulish"/>
              <a:cs typeface="Mulish"/>
              <a:sym typeface="Mulish"/>
            </a:endParaRPr>
          </a:p>
        </p:txBody>
      </p:sp>
      <p:sp>
        <p:nvSpPr>
          <p:cNvPr id="262" name="Google Shape;262;p5"/>
          <p:cNvSpPr/>
          <p:nvPr/>
        </p:nvSpPr>
        <p:spPr>
          <a:xfrm>
            <a:off x="1645920" y="2057400"/>
            <a:ext cx="4572000" cy="21489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63" name="Google Shape;263;p5"/>
          <p:cNvSpPr/>
          <p:nvPr/>
        </p:nvSpPr>
        <p:spPr>
          <a:xfrm>
            <a:off x="1965960" y="1929384"/>
            <a:ext cx="1600200" cy="255900"/>
          </a:xfrm>
          <a:prstGeom prst="roundRect">
            <a:avLst>
              <a:gd fmla="val 50000" name="adj"/>
            </a:avLst>
          </a:prstGeom>
          <a:solidFill>
            <a:srgbClr val="079ED2"/>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01 · BOUNDARIES</a:t>
            </a:r>
            <a:endParaRPr>
              <a:latin typeface="Mulish"/>
              <a:ea typeface="Mulish"/>
              <a:cs typeface="Mulish"/>
              <a:sym typeface="Mulish"/>
            </a:endParaRPr>
          </a:p>
        </p:txBody>
      </p:sp>
      <p:sp>
        <p:nvSpPr>
          <p:cNvPr id="264" name="Google Shape;264;p5"/>
          <p:cNvSpPr txBox="1"/>
          <p:nvPr/>
        </p:nvSpPr>
        <p:spPr>
          <a:xfrm>
            <a:off x="1920275" y="2220024"/>
            <a:ext cx="4023300" cy="210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53334"/>
                </a:solidFill>
                <a:latin typeface="Fjalla One"/>
                <a:ea typeface="Fjalla One"/>
                <a:cs typeface="Fjalla One"/>
                <a:sym typeface="Fjalla One"/>
              </a:rPr>
              <a:t>1. </a:t>
            </a:r>
            <a:r>
              <a:rPr b="1" lang="en-US">
                <a:solidFill>
                  <a:srgbClr val="353334"/>
                </a:solidFill>
                <a:latin typeface="Fjalla One"/>
                <a:ea typeface="Fjalla One"/>
                <a:cs typeface="Fjalla One"/>
                <a:sym typeface="Fjalla One"/>
              </a:rPr>
              <a:t>SCOPE</a:t>
            </a:r>
            <a:endParaRPr>
              <a:latin typeface="Fjalla One"/>
              <a:ea typeface="Fjalla One"/>
              <a:cs typeface="Fjalla One"/>
              <a:sym typeface="Fjalla One"/>
            </a:endParaRPr>
          </a:p>
          <a:p>
            <a:pPr indent="0" lvl="0" marL="0" marR="0" rtl="0" algn="l">
              <a:spcBef>
                <a:spcPts val="400"/>
              </a:spcBef>
              <a:spcAft>
                <a:spcPts val="0"/>
              </a:spcAft>
              <a:buNone/>
            </a:pPr>
            <a:r>
              <a:rPr b="1" lang="en-US" sz="1100">
                <a:solidFill>
                  <a:srgbClr val="353334"/>
                </a:solidFill>
                <a:latin typeface="Mulish"/>
                <a:ea typeface="Mulish"/>
                <a:cs typeface="Mulish"/>
                <a:sym typeface="Mulish"/>
              </a:rPr>
              <a:t>IN - </a:t>
            </a:r>
            <a:r>
              <a:rPr lang="en-US" sz="1100">
                <a:solidFill>
                  <a:srgbClr val="353334"/>
                </a:solidFill>
                <a:latin typeface="Mulish"/>
                <a:ea typeface="Mulish"/>
                <a:cs typeface="Mulish"/>
                <a:sym typeface="Mulish"/>
              </a:rPr>
              <a:t>Resume upload,Structured resume parsing,Claim extraction,GitHub analysis,Portfolio/profile inputs,Claim-Evidence Matrix,,Readiness score,Role-fit ranking,Skill-gap analysis,Personalized roadmap,What-if simulator</a:t>
            </a:r>
            <a:br>
              <a:rPr lang="en-US" sz="1100">
                <a:solidFill>
                  <a:srgbClr val="3C3C41"/>
                </a:solidFill>
                <a:latin typeface="Mulish"/>
                <a:ea typeface="Mulish"/>
                <a:cs typeface="Mulish"/>
                <a:sym typeface="Mulish"/>
              </a:rPr>
            </a:br>
            <a:r>
              <a:rPr b="1" lang="en-US" sz="1100">
                <a:solidFill>
                  <a:srgbClr val="353334"/>
                </a:solidFill>
                <a:latin typeface="Mulish"/>
                <a:ea typeface="Mulish"/>
                <a:cs typeface="Mulish"/>
                <a:sym typeface="Mulish"/>
              </a:rPr>
              <a:t>OUT - </a:t>
            </a:r>
            <a:r>
              <a:rPr lang="en-US" sz="1100">
                <a:solidFill>
                  <a:srgbClr val="3C3C41"/>
                </a:solidFill>
                <a:latin typeface="Mulish"/>
                <a:ea typeface="Mulish"/>
                <a:cs typeface="Mulish"/>
                <a:sym typeface="Mulish"/>
              </a:rPr>
              <a:t>Automated LinkedIn scraping,Full-scale recruiter platform,Private repository access,Large-scale enterprise deployment,Full Figma/Behance integrations,Autonomous hiring decisions</a:t>
            </a:r>
            <a:endParaRPr sz="1100">
              <a:solidFill>
                <a:srgbClr val="3C3C41"/>
              </a:solidFill>
              <a:latin typeface="Mulish"/>
              <a:ea typeface="Mulish"/>
              <a:cs typeface="Mulish"/>
              <a:sym typeface="Mulish"/>
            </a:endParaRPr>
          </a:p>
          <a:p>
            <a:pPr indent="0" lvl="0" marL="0" marR="0" rtl="0" algn="l">
              <a:spcBef>
                <a:spcPts val="400"/>
              </a:spcBef>
              <a:spcAft>
                <a:spcPts val="0"/>
              </a:spcAft>
              <a:buNone/>
            </a:pPr>
            <a:r>
              <a:t/>
            </a:r>
            <a:endParaRPr sz="1100">
              <a:solidFill>
                <a:srgbClr val="3C3C41"/>
              </a:solidFill>
              <a:latin typeface="Mulish"/>
              <a:ea typeface="Mulish"/>
              <a:cs typeface="Mulish"/>
              <a:sym typeface="Mulish"/>
            </a:endParaRPr>
          </a:p>
        </p:txBody>
      </p:sp>
      <p:sp>
        <p:nvSpPr>
          <p:cNvPr id="265" name="Google Shape;265;p5"/>
          <p:cNvSpPr/>
          <p:nvPr/>
        </p:nvSpPr>
        <p:spPr>
          <a:xfrm>
            <a:off x="6492240" y="2057400"/>
            <a:ext cx="4572000" cy="21489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66" name="Google Shape;266;p5"/>
          <p:cNvSpPr/>
          <p:nvPr/>
        </p:nvSpPr>
        <p:spPr>
          <a:xfrm>
            <a:off x="6812280" y="1929384"/>
            <a:ext cx="1600200" cy="255900"/>
          </a:xfrm>
          <a:prstGeom prst="roundRect">
            <a:avLst>
              <a:gd fmla="val 50000" name="adj"/>
            </a:avLst>
          </a:prstGeom>
          <a:solidFill>
            <a:srgbClr val="FFB903"/>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353334"/>
                </a:solidFill>
                <a:latin typeface="Mulish"/>
                <a:ea typeface="Mulish"/>
                <a:cs typeface="Mulish"/>
                <a:sym typeface="Mulish"/>
              </a:rPr>
              <a:t>02 · ECONOMICS</a:t>
            </a:r>
            <a:endParaRPr>
              <a:latin typeface="Mulish"/>
              <a:ea typeface="Mulish"/>
              <a:cs typeface="Mulish"/>
              <a:sym typeface="Mulish"/>
            </a:endParaRPr>
          </a:p>
        </p:txBody>
      </p:sp>
      <p:sp>
        <p:nvSpPr>
          <p:cNvPr id="267" name="Google Shape;267;p5"/>
          <p:cNvSpPr txBox="1"/>
          <p:nvPr/>
        </p:nvSpPr>
        <p:spPr>
          <a:xfrm>
            <a:off x="6766598" y="2227332"/>
            <a:ext cx="4023300" cy="2242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solidFill>
                  <a:srgbClr val="353334"/>
                </a:solidFill>
                <a:latin typeface="Fjalla One"/>
                <a:ea typeface="Fjalla One"/>
                <a:cs typeface="Fjalla One"/>
                <a:sym typeface="Fjalla One"/>
              </a:rPr>
              <a:t>2. RUNNING COST</a:t>
            </a:r>
            <a:endParaRPr>
              <a:latin typeface="Fjalla One"/>
              <a:ea typeface="Fjalla One"/>
              <a:cs typeface="Fjalla One"/>
              <a:sym typeface="Fjalla One"/>
            </a:endParaRPr>
          </a:p>
          <a:p>
            <a:pPr indent="0" lvl="0" marL="0" rtl="0" algn="l">
              <a:spcBef>
                <a:spcPts val="400"/>
              </a:spcBef>
              <a:spcAft>
                <a:spcPts val="0"/>
              </a:spcAft>
              <a:buClr>
                <a:schemeClr val="dk1"/>
              </a:buClr>
              <a:buSzPts val="1100"/>
              <a:buFont typeface="Arial"/>
              <a:buNone/>
            </a:pPr>
            <a:r>
              <a:rPr lang="en-US" sz="1100">
                <a:solidFill>
                  <a:schemeClr val="dk1"/>
                </a:solidFill>
                <a:latin typeface="Mulish"/>
                <a:ea typeface="Mulish"/>
                <a:cs typeface="Mulish"/>
                <a:sym typeface="Mulish"/>
              </a:rPr>
              <a:t>Uses </a:t>
            </a:r>
            <a:r>
              <a:rPr b="1" lang="en-US" sz="1100">
                <a:solidFill>
                  <a:schemeClr val="dk1"/>
                </a:solidFill>
                <a:latin typeface="Mulish"/>
                <a:ea typeface="Mulish"/>
                <a:cs typeface="Mulish"/>
                <a:sym typeface="Mulish"/>
              </a:rPr>
              <a:t>open-source Python libraries</a:t>
            </a:r>
            <a:r>
              <a:rPr lang="en-US" sz="1100">
                <a:solidFill>
                  <a:schemeClr val="dk1"/>
                </a:solidFill>
                <a:latin typeface="Mulish"/>
                <a:ea typeface="Mulish"/>
                <a:cs typeface="Mulish"/>
                <a:sym typeface="Mulish"/>
              </a:rPr>
              <a:t> and </a:t>
            </a:r>
            <a:r>
              <a:rPr b="1" lang="en-US" sz="1100">
                <a:solidFill>
                  <a:schemeClr val="dk1"/>
                </a:solidFill>
                <a:latin typeface="Mulish"/>
                <a:ea typeface="Mulish"/>
                <a:cs typeface="Mulish"/>
                <a:sym typeface="Mulish"/>
              </a:rPr>
              <a:t>GitHub public APIs</a:t>
            </a:r>
            <a:r>
              <a:rPr lang="en-US" sz="1100">
                <a:solidFill>
                  <a:schemeClr val="dk1"/>
                </a:solidFill>
                <a:latin typeface="Mulish"/>
                <a:ea typeface="Mulish"/>
                <a:cs typeface="Mulish"/>
                <a:sym typeface="Mulish"/>
              </a:rPr>
              <a:t>.</a:t>
            </a:r>
            <a:endParaRPr sz="1100">
              <a:solidFill>
                <a:schemeClr val="dk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100">
                <a:solidFill>
                  <a:schemeClr val="dk1"/>
                </a:solidFill>
                <a:latin typeface="Mulish"/>
                <a:ea typeface="Mulish"/>
                <a:cs typeface="Mulish"/>
                <a:sym typeface="Mulish"/>
              </a:rPr>
              <a:t>Local processing wherever practical; </a:t>
            </a:r>
            <a:r>
              <a:rPr b="1" lang="en-US" sz="1100">
                <a:solidFill>
                  <a:schemeClr val="dk1"/>
                </a:solidFill>
                <a:latin typeface="Mulish"/>
                <a:ea typeface="Mulish"/>
                <a:cs typeface="Mulish"/>
                <a:sym typeface="Mulish"/>
              </a:rPr>
              <a:t>no GPU required</a:t>
            </a:r>
            <a:r>
              <a:rPr lang="en-US" sz="1100">
                <a:solidFill>
                  <a:schemeClr val="dk1"/>
                </a:solidFill>
                <a:latin typeface="Mulish"/>
                <a:ea typeface="Mulish"/>
                <a:cs typeface="Mulish"/>
                <a:sym typeface="Mulish"/>
              </a:rPr>
              <a:t>.</a:t>
            </a:r>
            <a:endParaRPr sz="1100">
              <a:solidFill>
                <a:schemeClr val="dk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100">
                <a:solidFill>
                  <a:schemeClr val="dk1"/>
                </a:solidFill>
                <a:latin typeface="Mulish"/>
                <a:ea typeface="Mulish"/>
                <a:cs typeface="Mulish"/>
                <a:sym typeface="Mulish"/>
              </a:rPr>
              <a:t>Lightweight database with minimal storage cost.</a:t>
            </a:r>
            <a:endParaRPr sz="1100">
              <a:solidFill>
                <a:schemeClr val="dk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100">
                <a:solidFill>
                  <a:schemeClr val="dk1"/>
                </a:solidFill>
                <a:latin typeface="Mulish"/>
                <a:ea typeface="Mulish"/>
                <a:cs typeface="Mulish"/>
                <a:sym typeface="Mulish"/>
              </a:rPr>
              <a:t>Limited </a:t>
            </a:r>
            <a:r>
              <a:rPr b="1" lang="en-US" sz="1100">
                <a:solidFill>
                  <a:schemeClr val="dk1"/>
                </a:solidFill>
                <a:latin typeface="Mulish"/>
                <a:ea typeface="Mulish"/>
                <a:cs typeface="Mulish"/>
                <a:sym typeface="Mulish"/>
              </a:rPr>
              <a:t>LLM API calls</a:t>
            </a:r>
            <a:r>
              <a:rPr lang="en-US" sz="1100">
                <a:solidFill>
                  <a:schemeClr val="dk1"/>
                </a:solidFill>
                <a:latin typeface="Mulish"/>
                <a:ea typeface="Mulish"/>
                <a:cs typeface="Mulish"/>
                <a:sym typeface="Mulish"/>
              </a:rPr>
              <a:t> to reduce token usage.</a:t>
            </a:r>
            <a:endParaRPr sz="1100">
              <a:solidFill>
                <a:schemeClr val="dk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100">
                <a:solidFill>
                  <a:schemeClr val="dk1"/>
                </a:solidFill>
                <a:latin typeface="Mulish"/>
                <a:ea typeface="Mulish"/>
                <a:cs typeface="Mulish"/>
                <a:sym typeface="Mulish"/>
              </a:rPr>
              <a:t>Resume processing → </a:t>
            </a:r>
            <a:r>
              <a:rPr b="1" lang="en-US" sz="1100">
                <a:solidFill>
                  <a:schemeClr val="dk1"/>
                </a:solidFill>
                <a:latin typeface="Mulish"/>
                <a:ea typeface="Mulish"/>
                <a:cs typeface="Mulish"/>
                <a:sym typeface="Mulish"/>
              </a:rPr>
              <a:t>per analysis</a:t>
            </a:r>
            <a:r>
              <a:rPr lang="en-US" sz="1100">
                <a:solidFill>
                  <a:schemeClr val="dk1"/>
                </a:solidFill>
                <a:latin typeface="Mulish"/>
                <a:ea typeface="Mulish"/>
                <a:cs typeface="Mulish"/>
                <a:sym typeface="Mulish"/>
              </a:rPr>
              <a:t>.</a:t>
            </a:r>
            <a:endParaRPr sz="1100">
              <a:solidFill>
                <a:schemeClr val="dk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100">
                <a:solidFill>
                  <a:schemeClr val="dk1"/>
                </a:solidFill>
                <a:latin typeface="Mulish"/>
                <a:ea typeface="Mulish"/>
                <a:cs typeface="Mulish"/>
                <a:sym typeface="Mulish"/>
              </a:rPr>
              <a:t>GitHub analysis → </a:t>
            </a:r>
            <a:r>
              <a:rPr b="1" lang="en-US" sz="1100">
                <a:solidFill>
                  <a:schemeClr val="dk1"/>
                </a:solidFill>
                <a:latin typeface="Mulish"/>
                <a:ea typeface="Mulish"/>
                <a:cs typeface="Mulish"/>
                <a:sym typeface="Mulish"/>
              </a:rPr>
              <a:t>API usage</a:t>
            </a:r>
            <a:r>
              <a:rPr lang="en-US" sz="1100">
                <a:solidFill>
                  <a:schemeClr val="dk1"/>
                </a:solidFill>
                <a:latin typeface="Mulish"/>
                <a:ea typeface="Mulish"/>
                <a:cs typeface="Mulish"/>
                <a:sym typeface="Mulish"/>
              </a:rPr>
              <a:t>.</a:t>
            </a:r>
            <a:endParaRPr sz="1100">
              <a:solidFill>
                <a:schemeClr val="dk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100">
                <a:solidFill>
                  <a:schemeClr val="dk1"/>
                </a:solidFill>
                <a:latin typeface="Mulish"/>
                <a:ea typeface="Mulish"/>
                <a:cs typeface="Mulish"/>
                <a:sym typeface="Mulish"/>
              </a:rPr>
              <a:t>Frontend/backend → </a:t>
            </a:r>
            <a:r>
              <a:rPr b="1" lang="en-US" sz="1100">
                <a:solidFill>
                  <a:schemeClr val="dk1"/>
                </a:solidFill>
                <a:latin typeface="Mulish"/>
                <a:ea typeface="Mulish"/>
                <a:cs typeface="Mulish"/>
                <a:sym typeface="Mulish"/>
              </a:rPr>
              <a:t>low-cost or free-tier hosting</a:t>
            </a:r>
            <a:r>
              <a:rPr lang="en-US" sz="1100">
                <a:solidFill>
                  <a:schemeClr val="dk1"/>
                </a:solidFill>
                <a:latin typeface="Mulish"/>
                <a:ea typeface="Mulish"/>
                <a:cs typeface="Mulish"/>
                <a:sym typeface="Mulish"/>
              </a:rPr>
              <a:t>.</a:t>
            </a:r>
            <a:endParaRPr sz="1100">
              <a:solidFill>
                <a:schemeClr val="dk1"/>
              </a:solidFill>
              <a:latin typeface="Mulish"/>
              <a:ea typeface="Mulish"/>
              <a:cs typeface="Mulish"/>
              <a:sym typeface="Mulish"/>
            </a:endParaRPr>
          </a:p>
          <a:p>
            <a:pPr indent="0" lvl="0" marL="0" marR="0" rtl="0" algn="l">
              <a:spcBef>
                <a:spcPts val="400"/>
              </a:spcBef>
              <a:spcAft>
                <a:spcPts val="0"/>
              </a:spcAft>
              <a:buNone/>
            </a:pPr>
            <a:r>
              <a:t/>
            </a:r>
            <a:endParaRPr sz="1100">
              <a:solidFill>
                <a:srgbClr val="3C3C41"/>
              </a:solidFill>
              <a:latin typeface="Mulish"/>
              <a:ea typeface="Mulish"/>
              <a:cs typeface="Mulish"/>
              <a:sym typeface="Mulish"/>
            </a:endParaRPr>
          </a:p>
        </p:txBody>
      </p:sp>
      <p:sp>
        <p:nvSpPr>
          <p:cNvPr id="268" name="Google Shape;268;p5"/>
          <p:cNvSpPr/>
          <p:nvPr/>
        </p:nvSpPr>
        <p:spPr>
          <a:xfrm>
            <a:off x="1645920" y="4389120"/>
            <a:ext cx="4572000" cy="21489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69" name="Google Shape;269;p5"/>
          <p:cNvSpPr/>
          <p:nvPr/>
        </p:nvSpPr>
        <p:spPr>
          <a:xfrm>
            <a:off x="1965960" y="4261104"/>
            <a:ext cx="1600200" cy="255900"/>
          </a:xfrm>
          <a:prstGeom prst="roundRect">
            <a:avLst>
              <a:gd fmla="val 50000" name="adj"/>
            </a:avLst>
          </a:prstGeom>
          <a:solidFill>
            <a:srgbClr val="FD1485"/>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03 · CONTINGENCY</a:t>
            </a:r>
            <a:endParaRPr>
              <a:latin typeface="Mulish"/>
              <a:ea typeface="Mulish"/>
              <a:cs typeface="Mulish"/>
              <a:sym typeface="Mulish"/>
            </a:endParaRPr>
          </a:p>
        </p:txBody>
      </p:sp>
      <p:sp>
        <p:nvSpPr>
          <p:cNvPr id="270" name="Google Shape;270;p5"/>
          <p:cNvSpPr txBox="1"/>
          <p:nvPr/>
        </p:nvSpPr>
        <p:spPr>
          <a:xfrm>
            <a:off x="1645925" y="4517125"/>
            <a:ext cx="4452600" cy="2362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solidFill>
                  <a:srgbClr val="353334"/>
                </a:solidFill>
                <a:latin typeface="Fjalla One"/>
                <a:ea typeface="Fjalla One"/>
                <a:cs typeface="Fjalla One"/>
                <a:sym typeface="Fjalla One"/>
              </a:rPr>
              <a:t>3. RISKS &amp; FALLBACK</a:t>
            </a:r>
            <a:endParaRPr b="1">
              <a:solidFill>
                <a:schemeClr val="dk1"/>
              </a:solidFill>
              <a:latin typeface="Fjalla One"/>
              <a:ea typeface="Fjalla One"/>
              <a:cs typeface="Fjalla One"/>
              <a:sym typeface="Fjalla One"/>
            </a:endParaRPr>
          </a:p>
          <a:p>
            <a:pPr indent="-292100" lvl="0" marL="457200" rtl="0" algn="l">
              <a:lnSpc>
                <a:spcPct val="115000"/>
              </a:lnSpc>
              <a:spcBef>
                <a:spcPts val="1200"/>
              </a:spcBef>
              <a:spcAft>
                <a:spcPts val="0"/>
              </a:spcAft>
              <a:buClr>
                <a:schemeClr val="dk1"/>
              </a:buClr>
              <a:buSzPts val="1000"/>
              <a:buChar char="●"/>
            </a:pPr>
            <a:r>
              <a:rPr b="1" lang="en-US" sz="1000">
                <a:solidFill>
                  <a:schemeClr val="dk1"/>
                </a:solidFill>
                <a:latin typeface="Mulish"/>
                <a:ea typeface="Mulish"/>
                <a:cs typeface="Mulish"/>
                <a:sym typeface="Mulish"/>
              </a:rPr>
              <a:t>GitHub API limit:</a:t>
            </a:r>
            <a:r>
              <a:rPr lang="en-US" sz="1000">
                <a:solidFill>
                  <a:schemeClr val="dk1"/>
                </a:solidFill>
                <a:latin typeface="Mulish"/>
                <a:ea typeface="Mulish"/>
                <a:cs typeface="Mulish"/>
                <a:sym typeface="Mulish"/>
              </a:rPr>
              <a:t> Use cached/demo repository data.</a:t>
            </a:r>
            <a:endParaRPr sz="1000">
              <a:solidFill>
                <a:schemeClr val="dk1"/>
              </a:solidFill>
              <a:latin typeface="Mulish"/>
              <a:ea typeface="Mulish"/>
              <a:cs typeface="Mulish"/>
              <a:sym typeface="Mulish"/>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latin typeface="Mulish"/>
                <a:ea typeface="Mulish"/>
                <a:cs typeface="Mulish"/>
                <a:sym typeface="Mulish"/>
              </a:rPr>
              <a:t>LLM failure:</a:t>
            </a:r>
            <a:r>
              <a:rPr lang="en-US" sz="1000">
                <a:solidFill>
                  <a:schemeClr val="dk1"/>
                </a:solidFill>
                <a:latin typeface="Mulish"/>
                <a:ea typeface="Mulish"/>
                <a:cs typeface="Mulish"/>
                <a:sym typeface="Mulish"/>
              </a:rPr>
              <a:t> Use structured parser, retry mechanism, or stored analysis.</a:t>
            </a:r>
            <a:endParaRPr sz="1000">
              <a:solidFill>
                <a:schemeClr val="dk1"/>
              </a:solidFill>
              <a:latin typeface="Mulish"/>
              <a:ea typeface="Mulish"/>
              <a:cs typeface="Mulish"/>
              <a:sym typeface="Mulish"/>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latin typeface="Mulish"/>
                <a:ea typeface="Mulish"/>
                <a:cs typeface="Mulish"/>
                <a:sym typeface="Mulish"/>
              </a:rPr>
              <a:t>Messy/scanned resume:</a:t>
            </a:r>
            <a:r>
              <a:rPr lang="en-US" sz="1000">
                <a:solidFill>
                  <a:schemeClr val="dk1"/>
                </a:solidFill>
                <a:latin typeface="Mulish"/>
                <a:ea typeface="Mulish"/>
                <a:cs typeface="Mulish"/>
                <a:sym typeface="Mulish"/>
              </a:rPr>
              <a:t> Use OCR as a fallback.</a:t>
            </a:r>
            <a:endParaRPr sz="1000">
              <a:solidFill>
                <a:schemeClr val="dk1"/>
              </a:solidFill>
              <a:latin typeface="Mulish"/>
              <a:ea typeface="Mulish"/>
              <a:cs typeface="Mulish"/>
              <a:sym typeface="Mulish"/>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latin typeface="Mulish"/>
                <a:ea typeface="Mulish"/>
                <a:cs typeface="Mulish"/>
                <a:sym typeface="Mulish"/>
              </a:rPr>
              <a:t>Portfolio unavailable:</a:t>
            </a:r>
            <a:r>
              <a:rPr lang="en-US" sz="1000">
                <a:solidFill>
                  <a:schemeClr val="dk1"/>
                </a:solidFill>
                <a:latin typeface="Mulish"/>
                <a:ea typeface="Mulish"/>
                <a:cs typeface="Mulish"/>
                <a:sym typeface="Mulish"/>
              </a:rPr>
              <a:t> Mark evidence as unavailable and lower confidence.</a:t>
            </a:r>
            <a:endParaRPr sz="1000">
              <a:solidFill>
                <a:schemeClr val="dk1"/>
              </a:solidFill>
              <a:latin typeface="Mulish"/>
              <a:ea typeface="Mulish"/>
              <a:cs typeface="Mulish"/>
              <a:sym typeface="Mulish"/>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latin typeface="Mulish"/>
                <a:ea typeface="Mulish"/>
                <a:cs typeface="Mulish"/>
                <a:sym typeface="Mulish"/>
              </a:rPr>
              <a:t>LinkedIn restrictions:</a:t>
            </a:r>
            <a:r>
              <a:rPr lang="en-US" sz="1000">
                <a:solidFill>
                  <a:schemeClr val="dk1"/>
                </a:solidFill>
                <a:latin typeface="Mulish"/>
                <a:ea typeface="Mulish"/>
                <a:cs typeface="Mulish"/>
                <a:sym typeface="Mulish"/>
              </a:rPr>
              <a:t> Use user-provided PDF export or pasted text.</a:t>
            </a:r>
            <a:endParaRPr sz="1000">
              <a:solidFill>
                <a:schemeClr val="dk1"/>
              </a:solidFill>
              <a:latin typeface="Mulish"/>
              <a:ea typeface="Mulish"/>
              <a:cs typeface="Mulish"/>
              <a:sym typeface="Mulish"/>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latin typeface="Mulish"/>
                <a:ea typeface="Mulish"/>
                <a:cs typeface="Mulish"/>
                <a:sym typeface="Mulish"/>
              </a:rPr>
              <a:t>Job API unavailable:</a:t>
            </a:r>
            <a:r>
              <a:rPr lang="en-US" sz="1000">
                <a:solidFill>
                  <a:schemeClr val="dk1"/>
                </a:solidFill>
                <a:latin typeface="Mulish"/>
                <a:ea typeface="Mulish"/>
                <a:cs typeface="Mulish"/>
                <a:sym typeface="Mulish"/>
              </a:rPr>
              <a:t> Use a preloaded job-description dataset.</a:t>
            </a:r>
            <a:endParaRPr sz="1000">
              <a:solidFill>
                <a:schemeClr val="dk1"/>
              </a:solidFill>
              <a:latin typeface="Mulish"/>
              <a:ea typeface="Mulish"/>
              <a:cs typeface="Mulish"/>
              <a:sym typeface="Mulish"/>
            </a:endParaRPr>
          </a:p>
          <a:p>
            <a:pPr indent="0" lvl="0" marL="0" marR="0" rtl="0" algn="l">
              <a:spcBef>
                <a:spcPts val="1200"/>
              </a:spcBef>
              <a:spcAft>
                <a:spcPts val="0"/>
              </a:spcAft>
              <a:buNone/>
            </a:pPr>
            <a:r>
              <a:t/>
            </a:r>
            <a:endParaRPr sz="1000">
              <a:solidFill>
                <a:srgbClr val="3C3C41"/>
              </a:solidFill>
              <a:latin typeface="Mulish"/>
              <a:ea typeface="Mulish"/>
              <a:cs typeface="Mulish"/>
              <a:sym typeface="Mulish"/>
            </a:endParaRPr>
          </a:p>
        </p:txBody>
      </p:sp>
      <p:sp>
        <p:nvSpPr>
          <p:cNvPr id="271" name="Google Shape;271;p5"/>
          <p:cNvSpPr/>
          <p:nvPr/>
        </p:nvSpPr>
        <p:spPr>
          <a:xfrm>
            <a:off x="6492240" y="4389120"/>
            <a:ext cx="4572000" cy="21489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ulish"/>
              <a:ea typeface="Mulish"/>
              <a:cs typeface="Mulish"/>
              <a:sym typeface="Mulish"/>
            </a:endParaRPr>
          </a:p>
        </p:txBody>
      </p:sp>
      <p:sp>
        <p:nvSpPr>
          <p:cNvPr id="272" name="Google Shape;272;p5"/>
          <p:cNvSpPr/>
          <p:nvPr/>
        </p:nvSpPr>
        <p:spPr>
          <a:xfrm>
            <a:off x="6812280" y="4261104"/>
            <a:ext cx="1600200" cy="255900"/>
          </a:xfrm>
          <a:prstGeom prst="roundRect">
            <a:avLst>
              <a:gd fmla="val 50000" name="adj"/>
            </a:avLst>
          </a:prstGeom>
          <a:solidFill>
            <a:srgbClr val="353334"/>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04 · HORIZON</a:t>
            </a:r>
            <a:endParaRPr>
              <a:latin typeface="Mulish"/>
              <a:ea typeface="Mulish"/>
              <a:cs typeface="Mulish"/>
              <a:sym typeface="Mulish"/>
            </a:endParaRPr>
          </a:p>
        </p:txBody>
      </p:sp>
      <p:sp>
        <p:nvSpPr>
          <p:cNvPr id="273" name="Google Shape;273;p5"/>
          <p:cNvSpPr txBox="1"/>
          <p:nvPr/>
        </p:nvSpPr>
        <p:spPr>
          <a:xfrm>
            <a:off x="6642013" y="4511575"/>
            <a:ext cx="4171500" cy="234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solidFill>
                  <a:srgbClr val="353334"/>
                </a:solidFill>
                <a:latin typeface="Fjalla One"/>
                <a:ea typeface="Fjalla One"/>
                <a:cs typeface="Fjalla One"/>
                <a:sym typeface="Fjalla One"/>
              </a:rPr>
              <a:t>4. AFTER THE HACKATHON</a:t>
            </a:r>
            <a:endParaRPr>
              <a:latin typeface="Fjalla One"/>
              <a:ea typeface="Fjalla One"/>
              <a:cs typeface="Fjalla One"/>
              <a:sym typeface="Fjalla One"/>
            </a:endParaRPr>
          </a:p>
          <a:p>
            <a:pPr indent="0" lvl="0" marL="0" marR="0" rtl="0" algn="l">
              <a:lnSpc>
                <a:spcPct val="100000"/>
              </a:lnSpc>
              <a:spcBef>
                <a:spcPts val="400"/>
              </a:spcBef>
              <a:spcAft>
                <a:spcPts val="0"/>
              </a:spcAft>
              <a:buNone/>
            </a:pPr>
            <a:r>
              <a:rPr b="1" lang="en-US" sz="1100">
                <a:solidFill>
                  <a:schemeClr val="dk1"/>
                </a:solidFill>
                <a:latin typeface="Mulish"/>
                <a:ea typeface="Mulish"/>
                <a:cs typeface="Mulish"/>
                <a:sym typeface="Mulish"/>
              </a:rPr>
              <a:t>Product Hardening - </a:t>
            </a:r>
            <a:r>
              <a:rPr lang="en-US" sz="1100">
                <a:solidFill>
                  <a:schemeClr val="dk1"/>
                </a:solidFill>
                <a:latin typeface="Mulish"/>
                <a:ea typeface="Mulish"/>
                <a:cs typeface="Mulish"/>
                <a:sym typeface="Mulish"/>
              </a:rPr>
              <a:t>Authentication &amp; student profiles, </a:t>
            </a:r>
            <a:r>
              <a:rPr lang="en-US" sz="1100">
                <a:solidFill>
                  <a:schemeClr val="dk1"/>
                </a:solidFill>
                <a:latin typeface="Mulish"/>
                <a:ea typeface="Mulish"/>
                <a:cs typeface="Mulish"/>
                <a:sym typeface="Mulish"/>
              </a:rPr>
              <a:t>improved</a:t>
            </a:r>
            <a:r>
              <a:rPr lang="en-US" sz="1100">
                <a:solidFill>
                  <a:schemeClr val="dk1"/>
                </a:solidFill>
                <a:latin typeface="Mulish"/>
                <a:ea typeface="Mulish"/>
                <a:cs typeface="Mulish"/>
                <a:sym typeface="Mulish"/>
              </a:rPr>
              <a:t> evidence extraction &amp; role matching,Portfolio integration</a:t>
            </a:r>
            <a:endParaRPr sz="1100">
              <a:solidFill>
                <a:schemeClr val="dk1"/>
              </a:solidFill>
              <a:latin typeface="Mulish"/>
              <a:ea typeface="Mulish"/>
              <a:cs typeface="Mulish"/>
              <a:sym typeface="Mulish"/>
            </a:endParaRPr>
          </a:p>
          <a:p>
            <a:pPr indent="0" lvl="0" marL="0" rtl="0" algn="l">
              <a:lnSpc>
                <a:spcPct val="100000"/>
              </a:lnSpc>
              <a:spcBef>
                <a:spcPts val="1200"/>
              </a:spcBef>
              <a:spcAft>
                <a:spcPts val="0"/>
              </a:spcAft>
              <a:buNone/>
            </a:pPr>
            <a:r>
              <a:rPr b="1" lang="en-US" sz="1100">
                <a:solidFill>
                  <a:schemeClr val="dk1"/>
                </a:solidFill>
                <a:latin typeface="Mulish"/>
                <a:ea typeface="Mulish"/>
                <a:cs typeface="Mulish"/>
                <a:sym typeface="Mulish"/>
              </a:rPr>
              <a:t>Placement Intelligence - </a:t>
            </a:r>
            <a:r>
              <a:rPr lang="en-US" sz="1100">
                <a:solidFill>
                  <a:schemeClr val="dk1"/>
                </a:solidFill>
                <a:latin typeface="Mulish"/>
                <a:ea typeface="Mulish"/>
                <a:cs typeface="Mulish"/>
                <a:sym typeface="Mulish"/>
              </a:rPr>
              <a:t>Placement dashboards, Recruiter-role matching,Skill-gap &amp; training recommendations</a:t>
            </a:r>
            <a:endParaRPr sz="1100">
              <a:solidFill>
                <a:schemeClr val="dk1"/>
              </a:solidFill>
              <a:latin typeface="Mulish"/>
              <a:ea typeface="Mulish"/>
              <a:cs typeface="Mulish"/>
              <a:sym typeface="Mulish"/>
            </a:endParaRPr>
          </a:p>
          <a:p>
            <a:pPr indent="0" lvl="0" marL="0" rtl="0" algn="l">
              <a:lnSpc>
                <a:spcPct val="100000"/>
              </a:lnSpc>
              <a:spcBef>
                <a:spcPts val="1200"/>
              </a:spcBef>
              <a:spcAft>
                <a:spcPts val="0"/>
              </a:spcAft>
              <a:buNone/>
            </a:pPr>
            <a:r>
              <a:rPr b="1" lang="en-US" sz="1100">
                <a:solidFill>
                  <a:schemeClr val="dk1"/>
                </a:solidFill>
                <a:latin typeface="Mulish"/>
                <a:ea typeface="Mulish"/>
                <a:cs typeface="Mulish"/>
                <a:sym typeface="Mulish"/>
              </a:rPr>
              <a:t> Career Intelligence - </a:t>
            </a:r>
            <a:r>
              <a:rPr lang="en-US" sz="1100">
                <a:solidFill>
                  <a:schemeClr val="dk1"/>
                </a:solidFill>
                <a:latin typeface="Mulish"/>
                <a:ea typeface="Mulish"/>
                <a:cs typeface="Mulish"/>
                <a:sym typeface="Mulish"/>
              </a:rPr>
              <a:t>Live job-market skill demand, Continuous readiness tracking,Personalized projects &amp; learning resources</a:t>
            </a:r>
            <a:endParaRPr sz="1100">
              <a:solidFill>
                <a:schemeClr val="dk1"/>
              </a:solidFill>
              <a:latin typeface="Mulish"/>
              <a:ea typeface="Mulish"/>
              <a:cs typeface="Mulish"/>
              <a:sym typeface="Mulish"/>
            </a:endParaRPr>
          </a:p>
          <a:p>
            <a:pPr indent="0" lvl="0" marL="0" marR="0" rtl="0" algn="l">
              <a:spcBef>
                <a:spcPts val="1200"/>
              </a:spcBef>
              <a:spcAft>
                <a:spcPts val="0"/>
              </a:spcAft>
              <a:buNone/>
            </a:pPr>
            <a:r>
              <a:t/>
            </a:r>
            <a:endParaRPr sz="1100">
              <a:solidFill>
                <a:srgbClr val="3C3C41"/>
              </a:solidFill>
              <a:latin typeface="Mulish"/>
              <a:ea typeface="Mulish"/>
              <a:cs typeface="Mulish"/>
              <a:sym typeface="Mulish"/>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6"/>
          <p:cNvSpPr/>
          <p:nvPr/>
        </p:nvSpPr>
        <p:spPr>
          <a:xfrm>
            <a:off x="150" y="70025"/>
            <a:ext cx="12191700" cy="6858000"/>
          </a:xfrm>
          <a:prstGeom prst="rect">
            <a:avLst/>
          </a:prstGeom>
          <a:solidFill>
            <a:srgbClr val="FFFFF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 name="Google Shape;279;p6"/>
          <p:cNvSpPr/>
          <p:nvPr/>
        </p:nvSpPr>
        <p:spPr>
          <a:xfrm>
            <a:off x="-182880" y="1051560"/>
            <a:ext cx="1051500" cy="329100"/>
          </a:xfrm>
          <a:prstGeom prst="roundRect">
            <a:avLst>
              <a:gd fmla="val 50000" name="adj"/>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 name="Google Shape;280;p6"/>
          <p:cNvSpPr/>
          <p:nvPr/>
        </p:nvSpPr>
        <p:spPr>
          <a:xfrm>
            <a:off x="-182880" y="1453896"/>
            <a:ext cx="1463100" cy="329100"/>
          </a:xfrm>
          <a:prstGeom prst="roundRect">
            <a:avLst>
              <a:gd fmla="val 50000" name="adj"/>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p6"/>
          <p:cNvSpPr/>
          <p:nvPr/>
        </p:nvSpPr>
        <p:spPr>
          <a:xfrm>
            <a:off x="-182880" y="1856232"/>
            <a:ext cx="1051500" cy="329100"/>
          </a:xfrm>
          <a:prstGeom prst="roundRect">
            <a:avLst>
              <a:gd fmla="val 50000" name="adj"/>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p6"/>
          <p:cNvSpPr/>
          <p:nvPr/>
        </p:nvSpPr>
        <p:spPr>
          <a:xfrm>
            <a:off x="11521440" y="5486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p6"/>
          <p:cNvSpPr/>
          <p:nvPr/>
        </p:nvSpPr>
        <p:spPr>
          <a:xfrm>
            <a:off x="11521440" y="7132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4" name="Google Shape;284;p6"/>
          <p:cNvSpPr/>
          <p:nvPr/>
        </p:nvSpPr>
        <p:spPr>
          <a:xfrm>
            <a:off x="11521440" y="8778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 name="Google Shape;285;p6"/>
          <p:cNvSpPr/>
          <p:nvPr/>
        </p:nvSpPr>
        <p:spPr>
          <a:xfrm>
            <a:off x="11521440" y="10424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 name="Google Shape;286;p6"/>
          <p:cNvSpPr/>
          <p:nvPr/>
        </p:nvSpPr>
        <p:spPr>
          <a:xfrm>
            <a:off x="548640" y="55778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 name="Google Shape;287;p6"/>
          <p:cNvSpPr/>
          <p:nvPr/>
        </p:nvSpPr>
        <p:spPr>
          <a:xfrm>
            <a:off x="548640" y="57424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 name="Google Shape;288;p6"/>
          <p:cNvSpPr/>
          <p:nvPr/>
        </p:nvSpPr>
        <p:spPr>
          <a:xfrm>
            <a:off x="548640" y="59070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9" name="Google Shape;289;p6"/>
          <p:cNvSpPr/>
          <p:nvPr/>
        </p:nvSpPr>
        <p:spPr>
          <a:xfrm>
            <a:off x="548640" y="60716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 name="Google Shape;290;p6"/>
          <p:cNvSpPr/>
          <p:nvPr/>
        </p:nvSpPr>
        <p:spPr>
          <a:xfrm>
            <a:off x="11087100" y="5934075"/>
            <a:ext cx="3201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 name="Google Shape;291;p6"/>
          <p:cNvSpPr/>
          <p:nvPr/>
        </p:nvSpPr>
        <p:spPr>
          <a:xfrm>
            <a:off x="11237595" y="5783580"/>
            <a:ext cx="19200" cy="3201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p6"/>
          <p:cNvSpPr/>
          <p:nvPr/>
        </p:nvSpPr>
        <p:spPr>
          <a:xfrm>
            <a:off x="11192256" y="5888736"/>
            <a:ext cx="109800" cy="1098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3" name="Google Shape;293;p6"/>
          <p:cNvSpPr/>
          <p:nvPr/>
        </p:nvSpPr>
        <p:spPr>
          <a:xfrm>
            <a:off x="8412480" y="640080"/>
            <a:ext cx="1005900" cy="822900"/>
          </a:xfrm>
          <a:prstGeom prst="arc">
            <a:avLst>
              <a:gd fmla="val 16200000" name="adj1"/>
              <a:gd fmla="val 0" name="adj2"/>
            </a:avLst>
          </a:prstGeom>
          <a:noFill/>
          <a:ln cap="flat" cmpd="sng" w="19050">
            <a:solidFill>
              <a:srgbClr val="079ED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4" name="Google Shape;294;p6"/>
          <p:cNvSpPr/>
          <p:nvPr/>
        </p:nvSpPr>
        <p:spPr>
          <a:xfrm>
            <a:off x="8371332" y="101041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 name="Google Shape;295;p6"/>
          <p:cNvSpPr/>
          <p:nvPr/>
        </p:nvSpPr>
        <p:spPr>
          <a:xfrm>
            <a:off x="9377172" y="59893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 name="Google Shape;296;p6"/>
          <p:cNvSpPr txBox="1"/>
          <p:nvPr/>
        </p:nvSpPr>
        <p:spPr>
          <a:xfrm>
            <a:off x="1645920" y="384048"/>
            <a:ext cx="8229600" cy="274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353334"/>
                </a:solidFill>
                <a:latin typeface="Mulish"/>
                <a:ea typeface="Mulish"/>
                <a:cs typeface="Mulish"/>
                <a:sym typeface="Mulish"/>
              </a:rPr>
              <a:t>DATAQUEST 3.0  ·  ROUND 1</a:t>
            </a:r>
            <a:endParaRPr/>
          </a:p>
        </p:txBody>
      </p:sp>
      <p:sp>
        <p:nvSpPr>
          <p:cNvPr id="297" name="Google Shape;297;p6"/>
          <p:cNvSpPr txBox="1"/>
          <p:nvPr/>
        </p:nvSpPr>
        <p:spPr>
          <a:xfrm>
            <a:off x="1645920" y="621792"/>
            <a:ext cx="9144000" cy="777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FD1485"/>
                </a:solidFill>
                <a:latin typeface="Fjalla One"/>
                <a:ea typeface="Fjalla One"/>
                <a:cs typeface="Fjalla One"/>
                <a:sym typeface="Fjalla One"/>
              </a:rPr>
              <a:t>06  </a:t>
            </a:r>
            <a:r>
              <a:rPr b="1" lang="en-US" sz="3200">
                <a:solidFill>
                  <a:srgbClr val="353334"/>
                </a:solidFill>
                <a:latin typeface="Fjalla One"/>
                <a:ea typeface="Fjalla One"/>
                <a:cs typeface="Fjalla One"/>
                <a:sym typeface="Fjalla One"/>
              </a:rPr>
              <a:t>Impact &amp; Metrics</a:t>
            </a:r>
            <a:endParaRPr/>
          </a:p>
        </p:txBody>
      </p:sp>
      <p:sp>
        <p:nvSpPr>
          <p:cNvPr id="298" name="Google Shape;298;p6"/>
          <p:cNvSpPr/>
          <p:nvPr/>
        </p:nvSpPr>
        <p:spPr>
          <a:xfrm>
            <a:off x="1645920" y="1444752"/>
            <a:ext cx="94182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p6"/>
          <p:cNvSpPr txBox="1"/>
          <p:nvPr/>
        </p:nvSpPr>
        <p:spPr>
          <a:xfrm>
            <a:off x="1645920" y="1517904"/>
            <a:ext cx="9418200" cy="32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6E6E73"/>
                </a:solidFill>
                <a:latin typeface="Mulish"/>
                <a:ea typeface="Mulish"/>
                <a:cs typeface="Mulish"/>
                <a:sym typeface="Mulish"/>
              </a:rPr>
              <a:t>Primary measurable impact · Transparent calculation · Stakeholder advantages</a:t>
            </a:r>
            <a:endParaRPr/>
          </a:p>
        </p:txBody>
      </p:sp>
      <p:sp>
        <p:nvSpPr>
          <p:cNvPr id="300" name="Google Shape;300;p6"/>
          <p:cNvSpPr/>
          <p:nvPr/>
        </p:nvSpPr>
        <p:spPr>
          <a:xfrm>
            <a:off x="1645920" y="2011680"/>
            <a:ext cx="9418200" cy="18288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1" name="Google Shape;301;p6"/>
          <p:cNvSpPr/>
          <p:nvPr/>
        </p:nvSpPr>
        <p:spPr>
          <a:xfrm>
            <a:off x="1965960" y="1883664"/>
            <a:ext cx="1600200" cy="255900"/>
          </a:xfrm>
          <a:prstGeom prst="roundRect">
            <a:avLst>
              <a:gd fmla="val 50000" name="adj"/>
            </a:avLst>
          </a:prstGeom>
          <a:solidFill>
            <a:srgbClr val="FD1485"/>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PRIMARY METRIC</a:t>
            </a:r>
            <a:endParaRPr/>
          </a:p>
        </p:txBody>
      </p:sp>
      <p:sp>
        <p:nvSpPr>
          <p:cNvPr id="302" name="Google Shape;302;p6"/>
          <p:cNvSpPr txBox="1"/>
          <p:nvPr/>
        </p:nvSpPr>
        <p:spPr>
          <a:xfrm>
            <a:off x="1920240" y="2194560"/>
            <a:ext cx="4114800" cy="124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500">
                <a:solidFill>
                  <a:srgbClr val="FD1485"/>
                </a:solidFill>
                <a:latin typeface="Fjalla One"/>
                <a:ea typeface="Fjalla One"/>
                <a:cs typeface="Fjalla One"/>
                <a:sym typeface="Fjalla One"/>
              </a:rPr>
              <a:t>(Claims with observable evidence ÷ Total verifiable claims) × 100  </a:t>
            </a:r>
            <a:endParaRPr sz="100"/>
          </a:p>
        </p:txBody>
      </p:sp>
      <p:sp>
        <p:nvSpPr>
          <p:cNvPr id="303" name="Google Shape;303;p6"/>
          <p:cNvSpPr txBox="1"/>
          <p:nvPr/>
        </p:nvSpPr>
        <p:spPr>
          <a:xfrm>
            <a:off x="6217920" y="2286000"/>
            <a:ext cx="4572000" cy="1046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53334"/>
                </a:solidFill>
                <a:latin typeface="Fjalla One"/>
                <a:ea typeface="Fjalla One"/>
                <a:cs typeface="Fjalla One"/>
                <a:sym typeface="Fjalla One"/>
              </a:rPr>
              <a:t>HOW IT WAS MEASURED</a:t>
            </a:r>
            <a:endParaRPr/>
          </a:p>
          <a:p>
            <a:pPr indent="0" lvl="0" marL="0" marR="0" rtl="0" algn="l">
              <a:spcBef>
                <a:spcPts val="300"/>
              </a:spcBef>
              <a:spcAft>
                <a:spcPts val="0"/>
              </a:spcAft>
              <a:buNone/>
            </a:pPr>
            <a:r>
              <a:rPr lang="en-US" sz="950">
                <a:solidFill>
                  <a:schemeClr val="dk1"/>
                </a:solidFill>
                <a:latin typeface="Mulish"/>
                <a:ea typeface="Mulish"/>
                <a:cs typeface="Mulish"/>
                <a:sym typeface="Mulish"/>
              </a:rPr>
              <a:t>Evaluate a sample of resume claims and identify the evidence expected for each claim. Compare these claims against observable evidence from GitHub repositories, project files, portfolios, or documented work. Record whether each claim has at least one traceable evidence source, then calculate the percentage using the formula shown.</a:t>
            </a:r>
            <a:endParaRPr>
              <a:latin typeface="Mulish"/>
              <a:ea typeface="Mulish"/>
              <a:cs typeface="Mulish"/>
              <a:sym typeface="Mulish"/>
            </a:endParaRPr>
          </a:p>
        </p:txBody>
      </p:sp>
      <p:sp>
        <p:nvSpPr>
          <p:cNvPr id="304" name="Google Shape;304;p6"/>
          <p:cNvSpPr/>
          <p:nvPr/>
        </p:nvSpPr>
        <p:spPr>
          <a:xfrm>
            <a:off x="1645920" y="4114800"/>
            <a:ext cx="2971800" cy="24231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 name="Google Shape;305;p6"/>
          <p:cNvSpPr/>
          <p:nvPr/>
        </p:nvSpPr>
        <p:spPr>
          <a:xfrm>
            <a:off x="1965960" y="3986784"/>
            <a:ext cx="1600200" cy="255900"/>
          </a:xfrm>
          <a:prstGeom prst="roundRect">
            <a:avLst>
              <a:gd fmla="val 50000" name="adj"/>
            </a:avLst>
          </a:prstGeom>
          <a:solidFill>
            <a:srgbClr val="079ED2"/>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IMPACT 01</a:t>
            </a:r>
            <a:endParaRPr/>
          </a:p>
        </p:txBody>
      </p:sp>
      <p:sp>
        <p:nvSpPr>
          <p:cNvPr id="306" name="Google Shape;306;p6"/>
          <p:cNvSpPr txBox="1"/>
          <p:nvPr/>
        </p:nvSpPr>
        <p:spPr>
          <a:xfrm>
            <a:off x="1828800" y="4343400"/>
            <a:ext cx="2606100" cy="1146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53334"/>
                </a:solidFill>
                <a:latin typeface="Fjalla One"/>
                <a:ea typeface="Fjalla One"/>
                <a:cs typeface="Fjalla One"/>
                <a:sym typeface="Fjalla One"/>
              </a:rPr>
              <a:t>WHAT IMPROVES</a:t>
            </a:r>
            <a:endParaRPr/>
          </a:p>
          <a:p>
            <a:pPr indent="0" lvl="0" marL="0" rtl="0" algn="l">
              <a:spcBef>
                <a:spcPts val="400"/>
              </a:spcBef>
              <a:spcAft>
                <a:spcPts val="0"/>
              </a:spcAft>
              <a:buClr>
                <a:schemeClr val="dk1"/>
              </a:buClr>
              <a:buSzPts val="1100"/>
              <a:buFont typeface="Arial"/>
              <a:buNone/>
            </a:pPr>
            <a:r>
              <a:rPr lang="en-US" sz="950">
                <a:solidFill>
                  <a:srgbClr val="3C3C41"/>
                </a:solidFill>
                <a:latin typeface="Mulish"/>
                <a:ea typeface="Mulish"/>
                <a:cs typeface="Mulish"/>
                <a:sym typeface="Mulish"/>
              </a:rPr>
              <a:t>Students receive specific evidence-backed improvement actions, rather than generic advice.</a:t>
            </a:r>
            <a:endParaRPr sz="95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t/>
            </a:r>
            <a:endParaRPr sz="950">
              <a:solidFill>
                <a:srgbClr val="3C3C41"/>
              </a:solidFill>
              <a:latin typeface="Mulish"/>
              <a:ea typeface="Mulish"/>
              <a:cs typeface="Mulish"/>
              <a:sym typeface="Mulish"/>
            </a:endParaRPr>
          </a:p>
          <a:p>
            <a:pPr indent="0" lvl="0" marL="0" marR="0" rtl="0" algn="l">
              <a:spcBef>
                <a:spcPts val="400"/>
              </a:spcBef>
              <a:spcAft>
                <a:spcPts val="0"/>
              </a:spcAft>
              <a:buNone/>
            </a:pPr>
            <a:r>
              <a:t/>
            </a:r>
            <a:endParaRPr sz="950">
              <a:solidFill>
                <a:srgbClr val="3C3C41"/>
              </a:solidFill>
              <a:latin typeface="Mulish"/>
              <a:ea typeface="Mulish"/>
              <a:cs typeface="Mulish"/>
              <a:sym typeface="Mulish"/>
            </a:endParaRPr>
          </a:p>
        </p:txBody>
      </p:sp>
      <p:sp>
        <p:nvSpPr>
          <p:cNvPr id="307" name="Google Shape;307;p6"/>
          <p:cNvSpPr/>
          <p:nvPr/>
        </p:nvSpPr>
        <p:spPr>
          <a:xfrm>
            <a:off x="4864608" y="4114800"/>
            <a:ext cx="2971800" cy="24231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8" name="Google Shape;308;p6"/>
          <p:cNvSpPr/>
          <p:nvPr/>
        </p:nvSpPr>
        <p:spPr>
          <a:xfrm>
            <a:off x="5184648" y="3986784"/>
            <a:ext cx="1600200" cy="255900"/>
          </a:xfrm>
          <a:prstGeom prst="roundRect">
            <a:avLst>
              <a:gd fmla="val 50000" name="adj"/>
            </a:avLst>
          </a:prstGeom>
          <a:solidFill>
            <a:srgbClr val="FFB903"/>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353334"/>
                </a:solidFill>
                <a:latin typeface="Mulish"/>
                <a:ea typeface="Mulish"/>
                <a:cs typeface="Mulish"/>
                <a:sym typeface="Mulish"/>
              </a:rPr>
              <a:t>IMPACT 02</a:t>
            </a:r>
            <a:endParaRPr/>
          </a:p>
        </p:txBody>
      </p:sp>
      <p:sp>
        <p:nvSpPr>
          <p:cNvPr id="309" name="Google Shape;309;p6"/>
          <p:cNvSpPr txBox="1"/>
          <p:nvPr/>
        </p:nvSpPr>
        <p:spPr>
          <a:xfrm>
            <a:off x="5047488" y="4343400"/>
            <a:ext cx="2606100" cy="217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53334"/>
                </a:solidFill>
                <a:latin typeface="Fjalla One"/>
                <a:ea typeface="Fjalla One"/>
                <a:cs typeface="Fjalla One"/>
                <a:sym typeface="Fjalla One"/>
              </a:rPr>
              <a:t>WHO ELSE BENEFITS</a:t>
            </a:r>
            <a:endParaRPr/>
          </a:p>
          <a:p>
            <a:pPr indent="0" lvl="0" marL="0" rtl="0" algn="l">
              <a:spcBef>
                <a:spcPts val="400"/>
              </a:spcBef>
              <a:spcAft>
                <a:spcPts val="0"/>
              </a:spcAft>
              <a:buClr>
                <a:schemeClr val="dk1"/>
              </a:buClr>
              <a:buSzPts val="1100"/>
              <a:buFont typeface="Arial"/>
              <a:buNone/>
            </a:pPr>
            <a:r>
              <a:rPr lang="en-US" sz="950">
                <a:solidFill>
                  <a:srgbClr val="3C3C41"/>
                </a:solidFill>
                <a:latin typeface="Mulish"/>
                <a:ea typeface="Mulish"/>
                <a:cs typeface="Mulish"/>
                <a:sym typeface="Mulish"/>
              </a:rPr>
              <a:t>CareerLens maps candidate profiles against structured role/skill taxonomies.</a:t>
            </a:r>
            <a:endParaRPr sz="95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t/>
            </a:r>
            <a:endParaRPr sz="95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950">
                <a:solidFill>
                  <a:srgbClr val="3C3C41"/>
                </a:solidFill>
                <a:latin typeface="Mulish"/>
                <a:ea typeface="Mulish"/>
                <a:cs typeface="Mulish"/>
                <a:sym typeface="Mulish"/>
              </a:rPr>
              <a:t>Use ESCO/O*NET-aligned role and skill concepts rather than manually inventing every job requirement.</a:t>
            </a:r>
            <a:endParaRPr sz="95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t/>
            </a:r>
            <a:endParaRPr sz="95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950">
                <a:solidFill>
                  <a:srgbClr val="3C3C41"/>
                </a:solidFill>
                <a:latin typeface="Mulish"/>
                <a:ea typeface="Mulish"/>
                <a:cs typeface="Mulish"/>
                <a:sym typeface="Mulish"/>
              </a:rPr>
              <a:t>ESCO provides structured relationships between occupations and skills and is designed to support job/skill matching.</a:t>
            </a:r>
            <a:endParaRPr sz="950">
              <a:solidFill>
                <a:srgbClr val="3C3C41"/>
              </a:solidFill>
              <a:latin typeface="Mulish"/>
              <a:ea typeface="Mulish"/>
              <a:cs typeface="Mulish"/>
              <a:sym typeface="Mulish"/>
            </a:endParaRPr>
          </a:p>
          <a:p>
            <a:pPr indent="0" lvl="0" marL="0" marR="0" rtl="0" algn="l">
              <a:spcBef>
                <a:spcPts val="400"/>
              </a:spcBef>
              <a:spcAft>
                <a:spcPts val="0"/>
              </a:spcAft>
              <a:buNone/>
            </a:pPr>
            <a:r>
              <a:t/>
            </a:r>
            <a:endParaRPr sz="950">
              <a:solidFill>
                <a:srgbClr val="3C3C41"/>
              </a:solidFill>
              <a:latin typeface="Mulish"/>
              <a:ea typeface="Mulish"/>
              <a:cs typeface="Mulish"/>
              <a:sym typeface="Mulish"/>
            </a:endParaRPr>
          </a:p>
        </p:txBody>
      </p:sp>
      <p:sp>
        <p:nvSpPr>
          <p:cNvPr id="310" name="Google Shape;310;p6"/>
          <p:cNvSpPr/>
          <p:nvPr/>
        </p:nvSpPr>
        <p:spPr>
          <a:xfrm>
            <a:off x="8083296" y="4114800"/>
            <a:ext cx="2971800" cy="24231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1" name="Google Shape;311;p6"/>
          <p:cNvSpPr/>
          <p:nvPr/>
        </p:nvSpPr>
        <p:spPr>
          <a:xfrm>
            <a:off x="8403336" y="3986784"/>
            <a:ext cx="1600200" cy="255900"/>
          </a:xfrm>
          <a:prstGeom prst="roundRect">
            <a:avLst>
              <a:gd fmla="val 50000" name="adj"/>
            </a:avLst>
          </a:prstGeom>
          <a:solidFill>
            <a:srgbClr val="353334"/>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IMPACT 03</a:t>
            </a:r>
            <a:endParaRPr/>
          </a:p>
        </p:txBody>
      </p:sp>
      <p:sp>
        <p:nvSpPr>
          <p:cNvPr id="312" name="Google Shape;312;p6"/>
          <p:cNvSpPr txBox="1"/>
          <p:nvPr/>
        </p:nvSpPr>
        <p:spPr>
          <a:xfrm>
            <a:off x="8266176" y="4343400"/>
            <a:ext cx="2606100" cy="188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53334"/>
                </a:solidFill>
                <a:latin typeface="Fjalla One"/>
                <a:ea typeface="Fjalla One"/>
                <a:cs typeface="Fjalla One"/>
                <a:sym typeface="Fjalla One"/>
              </a:rPr>
              <a:t>RISKS / MISUSE</a:t>
            </a:r>
            <a:endParaRPr/>
          </a:p>
          <a:p>
            <a:pPr indent="0" lvl="0" marL="0" rtl="0" algn="l">
              <a:spcBef>
                <a:spcPts val="400"/>
              </a:spcBef>
              <a:spcAft>
                <a:spcPts val="0"/>
              </a:spcAft>
              <a:buClr>
                <a:schemeClr val="dk1"/>
              </a:buClr>
              <a:buSzPts val="1100"/>
              <a:buFont typeface="Arial"/>
              <a:buNone/>
            </a:pPr>
            <a:r>
              <a:rPr lang="en-US" sz="950">
                <a:solidFill>
                  <a:srgbClr val="3C3C41"/>
                </a:solidFill>
                <a:latin typeface="Mulish"/>
                <a:ea typeface="Mulish"/>
                <a:cs typeface="Mulish"/>
                <a:sym typeface="Mulish"/>
              </a:rPr>
              <a:t>Risks</a:t>
            </a:r>
            <a:endParaRPr sz="95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950">
                <a:solidFill>
                  <a:srgbClr val="3C3C41"/>
                </a:solidFill>
                <a:latin typeface="Mulish"/>
                <a:ea typeface="Mulish"/>
                <a:cs typeface="Mulish"/>
                <a:sym typeface="Mulish"/>
              </a:rPr>
              <a:t>incomplete public evidence,outdated repositories,over-reliance on a numerical score</a:t>
            </a:r>
            <a:endParaRPr sz="95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950">
                <a:solidFill>
                  <a:srgbClr val="3C3C41"/>
                </a:solidFill>
                <a:latin typeface="Mulish"/>
                <a:ea typeface="Mulish"/>
                <a:cs typeface="Mulish"/>
                <a:sym typeface="Mulish"/>
              </a:rPr>
              <a:t>Mitigations</a:t>
            </a:r>
            <a:endParaRPr sz="95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950">
                <a:solidFill>
                  <a:srgbClr val="3C3C41"/>
                </a:solidFill>
                <a:latin typeface="Mulish"/>
                <a:ea typeface="Mulish"/>
                <a:cs typeface="Mulish"/>
                <a:sym typeface="Mulish"/>
              </a:rPr>
              <a:t>Confidence score,Evidence traceability,</a:t>
            </a:r>
            <a:endParaRPr sz="95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950">
                <a:solidFill>
                  <a:srgbClr val="3C3C41"/>
                </a:solidFill>
                <a:latin typeface="Mulish"/>
                <a:ea typeface="Mulish"/>
                <a:cs typeface="Mulish"/>
                <a:sym typeface="Mulish"/>
              </a:rPr>
              <a:t>Human-readable explanations,Fairness constraints,No identity-based scoring</a:t>
            </a:r>
            <a:endParaRPr sz="950">
              <a:solidFill>
                <a:srgbClr val="3C3C41"/>
              </a:solidFill>
              <a:latin typeface="Mulish"/>
              <a:ea typeface="Mulish"/>
              <a:cs typeface="Mulish"/>
              <a:sym typeface="Mulish"/>
            </a:endParaRPr>
          </a:p>
          <a:p>
            <a:pPr indent="0" lvl="0" marL="0" marR="0" rtl="0" algn="l">
              <a:spcBef>
                <a:spcPts val="400"/>
              </a:spcBef>
              <a:spcAft>
                <a:spcPts val="0"/>
              </a:spcAft>
              <a:buNone/>
            </a:pPr>
            <a:r>
              <a:t/>
            </a:r>
            <a:endParaRPr sz="950">
              <a:solidFill>
                <a:srgbClr val="3C3C41"/>
              </a:solidFill>
              <a:latin typeface="Mulish"/>
              <a:ea typeface="Mulish"/>
              <a:cs typeface="Mulish"/>
              <a:sym typeface="Mulish"/>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7"/>
          <p:cNvSpPr/>
          <p:nvPr/>
        </p:nvSpPr>
        <p:spPr>
          <a:xfrm>
            <a:off x="0" y="0"/>
            <a:ext cx="12191700" cy="6858000"/>
          </a:xfrm>
          <a:prstGeom prst="rect">
            <a:avLst/>
          </a:prstGeom>
          <a:solidFill>
            <a:srgbClr val="FFFFF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8" name="Google Shape;318;p7"/>
          <p:cNvSpPr/>
          <p:nvPr/>
        </p:nvSpPr>
        <p:spPr>
          <a:xfrm>
            <a:off x="-182880" y="1051560"/>
            <a:ext cx="1051500" cy="329100"/>
          </a:xfrm>
          <a:prstGeom prst="roundRect">
            <a:avLst>
              <a:gd fmla="val 50000" name="adj"/>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9" name="Google Shape;319;p7"/>
          <p:cNvSpPr/>
          <p:nvPr/>
        </p:nvSpPr>
        <p:spPr>
          <a:xfrm>
            <a:off x="-182880" y="1453896"/>
            <a:ext cx="1463100" cy="329100"/>
          </a:xfrm>
          <a:prstGeom prst="roundRect">
            <a:avLst>
              <a:gd fmla="val 50000" name="adj"/>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0" name="Google Shape;320;p7"/>
          <p:cNvSpPr/>
          <p:nvPr/>
        </p:nvSpPr>
        <p:spPr>
          <a:xfrm>
            <a:off x="-182880" y="1856232"/>
            <a:ext cx="1051500" cy="329100"/>
          </a:xfrm>
          <a:prstGeom prst="roundRect">
            <a:avLst>
              <a:gd fmla="val 50000" name="adj"/>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1" name="Google Shape;321;p7"/>
          <p:cNvSpPr/>
          <p:nvPr/>
        </p:nvSpPr>
        <p:spPr>
          <a:xfrm>
            <a:off x="11521440" y="5486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2" name="Google Shape;322;p7"/>
          <p:cNvSpPr/>
          <p:nvPr/>
        </p:nvSpPr>
        <p:spPr>
          <a:xfrm>
            <a:off x="11521440" y="7132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 name="Google Shape;323;p7"/>
          <p:cNvSpPr/>
          <p:nvPr/>
        </p:nvSpPr>
        <p:spPr>
          <a:xfrm>
            <a:off x="11521440" y="8778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4" name="Google Shape;324;p7"/>
          <p:cNvSpPr/>
          <p:nvPr/>
        </p:nvSpPr>
        <p:spPr>
          <a:xfrm>
            <a:off x="11521440" y="10424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 name="Google Shape;325;p7"/>
          <p:cNvSpPr/>
          <p:nvPr/>
        </p:nvSpPr>
        <p:spPr>
          <a:xfrm>
            <a:off x="548640" y="55778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 name="Google Shape;326;p7"/>
          <p:cNvSpPr/>
          <p:nvPr/>
        </p:nvSpPr>
        <p:spPr>
          <a:xfrm>
            <a:off x="548640" y="57424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 name="Google Shape;327;p7"/>
          <p:cNvSpPr/>
          <p:nvPr/>
        </p:nvSpPr>
        <p:spPr>
          <a:xfrm>
            <a:off x="548640" y="59070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 name="Google Shape;328;p7"/>
          <p:cNvSpPr/>
          <p:nvPr/>
        </p:nvSpPr>
        <p:spPr>
          <a:xfrm>
            <a:off x="548640" y="60716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 name="Google Shape;329;p7"/>
          <p:cNvSpPr/>
          <p:nvPr/>
        </p:nvSpPr>
        <p:spPr>
          <a:xfrm>
            <a:off x="11087100" y="5934075"/>
            <a:ext cx="3201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 name="Google Shape;330;p7"/>
          <p:cNvSpPr/>
          <p:nvPr/>
        </p:nvSpPr>
        <p:spPr>
          <a:xfrm>
            <a:off x="11237595" y="5783580"/>
            <a:ext cx="19200" cy="3201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1" name="Google Shape;331;p7"/>
          <p:cNvSpPr/>
          <p:nvPr/>
        </p:nvSpPr>
        <p:spPr>
          <a:xfrm>
            <a:off x="11192256" y="5888736"/>
            <a:ext cx="109800" cy="1098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2" name="Google Shape;332;p7"/>
          <p:cNvSpPr/>
          <p:nvPr/>
        </p:nvSpPr>
        <p:spPr>
          <a:xfrm>
            <a:off x="8412480" y="640080"/>
            <a:ext cx="1005900" cy="822900"/>
          </a:xfrm>
          <a:prstGeom prst="arc">
            <a:avLst>
              <a:gd fmla="val 16200000" name="adj1"/>
              <a:gd fmla="val 0" name="adj2"/>
            </a:avLst>
          </a:prstGeom>
          <a:noFill/>
          <a:ln cap="flat" cmpd="sng" w="19050">
            <a:solidFill>
              <a:srgbClr val="079ED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3" name="Google Shape;333;p7"/>
          <p:cNvSpPr/>
          <p:nvPr/>
        </p:nvSpPr>
        <p:spPr>
          <a:xfrm>
            <a:off x="8371332" y="101041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4" name="Google Shape;334;p7"/>
          <p:cNvSpPr/>
          <p:nvPr/>
        </p:nvSpPr>
        <p:spPr>
          <a:xfrm>
            <a:off x="9377172" y="59893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5" name="Google Shape;335;p7"/>
          <p:cNvSpPr txBox="1"/>
          <p:nvPr/>
        </p:nvSpPr>
        <p:spPr>
          <a:xfrm>
            <a:off x="1645920" y="384048"/>
            <a:ext cx="8229600" cy="274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353334"/>
                </a:solidFill>
                <a:latin typeface="Mulish"/>
                <a:ea typeface="Mulish"/>
                <a:cs typeface="Mulish"/>
                <a:sym typeface="Mulish"/>
              </a:rPr>
              <a:t>DATAQUEST 3.0  ·  ROUND 1</a:t>
            </a:r>
            <a:endParaRPr/>
          </a:p>
        </p:txBody>
      </p:sp>
      <p:sp>
        <p:nvSpPr>
          <p:cNvPr id="336" name="Google Shape;336;p7"/>
          <p:cNvSpPr txBox="1"/>
          <p:nvPr/>
        </p:nvSpPr>
        <p:spPr>
          <a:xfrm>
            <a:off x="1645920" y="621792"/>
            <a:ext cx="9144000" cy="777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FD1485"/>
                </a:solidFill>
                <a:latin typeface="Fjalla One"/>
                <a:ea typeface="Fjalla One"/>
                <a:cs typeface="Fjalla One"/>
                <a:sym typeface="Fjalla One"/>
              </a:rPr>
              <a:t>07  </a:t>
            </a:r>
            <a:r>
              <a:rPr b="1" lang="en-US" sz="3200">
                <a:solidFill>
                  <a:srgbClr val="353334"/>
                </a:solidFill>
                <a:latin typeface="Fjalla One"/>
                <a:ea typeface="Fjalla One"/>
                <a:cs typeface="Fjalla One"/>
                <a:sym typeface="Fjalla One"/>
              </a:rPr>
              <a:t>Why This Project?</a:t>
            </a:r>
            <a:endParaRPr/>
          </a:p>
        </p:txBody>
      </p:sp>
      <p:sp>
        <p:nvSpPr>
          <p:cNvPr id="337" name="Google Shape;337;p7"/>
          <p:cNvSpPr/>
          <p:nvPr/>
        </p:nvSpPr>
        <p:spPr>
          <a:xfrm>
            <a:off x="1645920" y="1444752"/>
            <a:ext cx="94182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8" name="Google Shape;338;p7"/>
          <p:cNvSpPr txBox="1"/>
          <p:nvPr/>
        </p:nvSpPr>
        <p:spPr>
          <a:xfrm>
            <a:off x="1645920" y="1517904"/>
            <a:ext cx="9418200" cy="32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6E6E73"/>
                </a:solidFill>
                <a:latin typeface="Mulish"/>
                <a:ea typeface="Mulish"/>
                <a:cs typeface="Mulish"/>
                <a:sym typeface="Mulish"/>
              </a:rPr>
              <a:t>Direct contrast with today's alternatives · Unfair technical advantage</a:t>
            </a:r>
            <a:endParaRPr/>
          </a:p>
        </p:txBody>
      </p:sp>
      <p:sp>
        <p:nvSpPr>
          <p:cNvPr id="339" name="Google Shape;339;p7"/>
          <p:cNvSpPr/>
          <p:nvPr/>
        </p:nvSpPr>
        <p:spPr>
          <a:xfrm>
            <a:off x="1645920" y="2011680"/>
            <a:ext cx="4572000" cy="26517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0" name="Google Shape;340;p7"/>
          <p:cNvSpPr/>
          <p:nvPr/>
        </p:nvSpPr>
        <p:spPr>
          <a:xfrm>
            <a:off x="1965960" y="1883664"/>
            <a:ext cx="1600200" cy="255900"/>
          </a:xfrm>
          <a:prstGeom prst="roundRect">
            <a:avLst>
              <a:gd fmla="val 50000" name="adj"/>
            </a:avLst>
          </a:prstGeom>
          <a:solidFill>
            <a:srgbClr val="353334"/>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STATUS QUO</a:t>
            </a:r>
            <a:endParaRPr/>
          </a:p>
        </p:txBody>
      </p:sp>
      <p:sp>
        <p:nvSpPr>
          <p:cNvPr id="341" name="Google Shape;341;p7"/>
          <p:cNvSpPr txBox="1"/>
          <p:nvPr/>
        </p:nvSpPr>
        <p:spPr>
          <a:xfrm>
            <a:off x="1920250" y="2286000"/>
            <a:ext cx="43725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353334"/>
                </a:solidFill>
                <a:latin typeface="Fjalla One"/>
                <a:ea typeface="Fjalla One"/>
                <a:cs typeface="Fjalla One"/>
                <a:sym typeface="Fjalla One"/>
              </a:rPr>
              <a:t>CURRENT APPROACH</a:t>
            </a:r>
            <a:endParaRPr/>
          </a:p>
          <a:p>
            <a:pPr indent="0" lvl="0" marL="0" rtl="0" algn="l">
              <a:spcBef>
                <a:spcPts val="400"/>
              </a:spcBef>
              <a:spcAft>
                <a:spcPts val="0"/>
              </a:spcAft>
              <a:buClr>
                <a:schemeClr val="dk1"/>
              </a:buClr>
              <a:buSzPts val="1100"/>
              <a:buFont typeface="Arial"/>
              <a:buNone/>
            </a:pPr>
            <a:r>
              <a:rPr b="1" lang="en-US" sz="1000">
                <a:solidFill>
                  <a:srgbClr val="3C3C41"/>
                </a:solidFill>
                <a:latin typeface="Mulish"/>
                <a:ea typeface="Mulish"/>
                <a:cs typeface="Mulish"/>
                <a:sym typeface="Mulish"/>
              </a:rPr>
              <a:t>Resume / ATS tools</a:t>
            </a:r>
            <a:endParaRPr b="1" sz="100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b="1" lang="en-US" sz="1000">
                <a:solidFill>
                  <a:srgbClr val="3C3C41"/>
                </a:solidFill>
                <a:latin typeface="Mulish"/>
                <a:ea typeface="Mulish"/>
                <a:cs typeface="Mulish"/>
                <a:sym typeface="Mulish"/>
              </a:rPr>
              <a:t>Focus mainly on:</a:t>
            </a:r>
            <a:r>
              <a:rPr lang="en-US" sz="1000">
                <a:solidFill>
                  <a:srgbClr val="3C3C41"/>
                </a:solidFill>
                <a:latin typeface="Mulish"/>
                <a:ea typeface="Mulish"/>
                <a:cs typeface="Mulish"/>
                <a:sym typeface="Mulish"/>
              </a:rPr>
              <a:t>keywords,formatting,Manual GitHub review</a:t>
            </a:r>
            <a:endParaRPr sz="100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b="1" lang="en-US" sz="1000">
                <a:solidFill>
                  <a:srgbClr val="3C3C41"/>
                </a:solidFill>
                <a:latin typeface="Mulish"/>
                <a:ea typeface="Mulish"/>
                <a:cs typeface="Mulish"/>
                <a:sym typeface="Mulish"/>
              </a:rPr>
              <a:t>Requires a recruiter/mentor to inspect:</a:t>
            </a:r>
            <a:r>
              <a:rPr lang="en-US" sz="1000">
                <a:solidFill>
                  <a:srgbClr val="3C3C41"/>
                </a:solidFill>
                <a:latin typeface="Mulish"/>
                <a:ea typeface="Mulish"/>
                <a:cs typeface="Mulish"/>
                <a:sym typeface="Mulish"/>
              </a:rPr>
              <a:t>repositories,code,documentation</a:t>
            </a:r>
            <a:endParaRPr sz="100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b="1" lang="en-US" sz="1000">
                <a:solidFill>
                  <a:srgbClr val="3C3C41"/>
                </a:solidFill>
                <a:latin typeface="Mulish"/>
                <a:ea typeface="Mulish"/>
                <a:cs typeface="Mulish"/>
                <a:sym typeface="Mulish"/>
              </a:rPr>
              <a:t>Student self-assessment </a:t>
            </a:r>
            <a:r>
              <a:rPr lang="en-US" sz="1000">
                <a:solidFill>
                  <a:srgbClr val="3C3C41"/>
                </a:solidFill>
                <a:latin typeface="Mulish"/>
                <a:ea typeface="Mulish"/>
                <a:cs typeface="Mulish"/>
                <a:sym typeface="Mulish"/>
              </a:rPr>
              <a:t>Relies heavily on: "I know Python."</a:t>
            </a:r>
            <a:endParaRPr sz="100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b="1" lang="en-US" sz="1000">
                <a:solidFill>
                  <a:srgbClr val="3C3C41"/>
                </a:solidFill>
                <a:latin typeface="Mulish"/>
                <a:ea typeface="Mulish"/>
                <a:cs typeface="Mulish"/>
                <a:sym typeface="Mulish"/>
              </a:rPr>
              <a:t>Placement spreadsheets Capture:</a:t>
            </a:r>
            <a:endParaRPr b="1" sz="100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000">
                <a:solidFill>
                  <a:srgbClr val="3C3C41"/>
                </a:solidFill>
                <a:latin typeface="Mulish"/>
                <a:ea typeface="Mulish"/>
                <a:cs typeface="Mulish"/>
                <a:sym typeface="Mulish"/>
              </a:rPr>
              <a:t>"Python - Yes"</a:t>
            </a:r>
            <a:endParaRPr sz="100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000">
                <a:solidFill>
                  <a:srgbClr val="3C3C41"/>
                </a:solidFill>
                <a:latin typeface="Mulish"/>
                <a:ea typeface="Mulish"/>
                <a:cs typeface="Mulish"/>
                <a:sym typeface="Mulish"/>
              </a:rPr>
              <a:t>but not:</a:t>
            </a:r>
            <a:endParaRPr sz="100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000">
                <a:solidFill>
                  <a:srgbClr val="3C3C41"/>
                </a:solidFill>
                <a:latin typeface="Mulish"/>
                <a:ea typeface="Mulish"/>
                <a:cs typeface="Mulish"/>
                <a:sym typeface="Mulish"/>
              </a:rPr>
              <a:t>"What evidence demonstrates Python proficiency?"</a:t>
            </a:r>
            <a:endParaRPr sz="1000">
              <a:solidFill>
                <a:srgbClr val="3C3C41"/>
              </a:solidFill>
              <a:latin typeface="Mulish"/>
              <a:ea typeface="Mulish"/>
              <a:cs typeface="Mulish"/>
              <a:sym typeface="Mulish"/>
            </a:endParaRPr>
          </a:p>
          <a:p>
            <a:pPr indent="0" lvl="0" marL="0" marR="0" rtl="0" algn="l">
              <a:spcBef>
                <a:spcPts val="400"/>
              </a:spcBef>
              <a:spcAft>
                <a:spcPts val="0"/>
              </a:spcAft>
              <a:buNone/>
            </a:pPr>
            <a:r>
              <a:t/>
            </a:r>
            <a:endParaRPr sz="1000">
              <a:solidFill>
                <a:srgbClr val="3C3C41"/>
              </a:solidFill>
              <a:latin typeface="Mulish"/>
              <a:ea typeface="Mulish"/>
              <a:cs typeface="Mulish"/>
              <a:sym typeface="Mulish"/>
            </a:endParaRPr>
          </a:p>
        </p:txBody>
      </p:sp>
      <p:sp>
        <p:nvSpPr>
          <p:cNvPr id="342" name="Google Shape;342;p7"/>
          <p:cNvSpPr/>
          <p:nvPr/>
        </p:nvSpPr>
        <p:spPr>
          <a:xfrm>
            <a:off x="6492240" y="2011680"/>
            <a:ext cx="4572000" cy="26517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3" name="Google Shape;343;p7"/>
          <p:cNvSpPr/>
          <p:nvPr/>
        </p:nvSpPr>
        <p:spPr>
          <a:xfrm>
            <a:off x="6812280" y="1883664"/>
            <a:ext cx="1600200" cy="255900"/>
          </a:xfrm>
          <a:prstGeom prst="roundRect">
            <a:avLst>
              <a:gd fmla="val 50000" name="adj"/>
            </a:avLst>
          </a:prstGeom>
          <a:solidFill>
            <a:srgbClr val="079ED2"/>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OUR SOLUTION</a:t>
            </a:r>
            <a:endParaRPr/>
          </a:p>
        </p:txBody>
      </p:sp>
      <p:sp>
        <p:nvSpPr>
          <p:cNvPr id="344" name="Google Shape;344;p7"/>
          <p:cNvSpPr txBox="1"/>
          <p:nvPr/>
        </p:nvSpPr>
        <p:spPr>
          <a:xfrm>
            <a:off x="6766560" y="2286000"/>
            <a:ext cx="4023300" cy="251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353334"/>
                </a:solidFill>
                <a:latin typeface="Fjalla One"/>
                <a:ea typeface="Fjalla One"/>
                <a:cs typeface="Fjalla One"/>
                <a:sym typeface="Fjalla One"/>
              </a:rPr>
              <a:t>OUR APPROACH</a:t>
            </a:r>
            <a:endParaRPr/>
          </a:p>
          <a:p>
            <a:pPr indent="0" lvl="0" marL="0" rtl="0" algn="l">
              <a:spcBef>
                <a:spcPts val="400"/>
              </a:spcBef>
              <a:spcAft>
                <a:spcPts val="0"/>
              </a:spcAft>
              <a:buClr>
                <a:schemeClr val="dk1"/>
              </a:buClr>
              <a:buSzPts val="1100"/>
              <a:buFont typeface="Arial"/>
              <a:buNone/>
            </a:pPr>
            <a:r>
              <a:rPr lang="en-US" sz="1000">
                <a:solidFill>
                  <a:srgbClr val="3C3C41"/>
                </a:solidFill>
                <a:latin typeface="Mulish"/>
                <a:ea typeface="Mulish"/>
                <a:cs typeface="Mulish"/>
                <a:sym typeface="Mulish"/>
              </a:rPr>
              <a:t>We don't score the resume. </a:t>
            </a:r>
            <a:r>
              <a:rPr b="1" lang="en-US" sz="1000">
                <a:solidFill>
                  <a:srgbClr val="3C3C41"/>
                </a:solidFill>
                <a:latin typeface="Mulish"/>
                <a:ea typeface="Mulish"/>
                <a:cs typeface="Mulish"/>
                <a:sym typeface="Mulish"/>
              </a:rPr>
              <a:t>We score the evidence behind the resume </a:t>
            </a:r>
            <a:r>
              <a:rPr lang="en-US" sz="1000">
                <a:solidFill>
                  <a:srgbClr val="3C3C41"/>
                </a:solidFill>
                <a:latin typeface="Mulish"/>
                <a:ea typeface="Mulish"/>
                <a:cs typeface="Mulish"/>
                <a:sym typeface="Mulish"/>
              </a:rPr>
              <a:t>and every score can be traced back to: Claim → Source → Evidence → Score Impact → Recommended Action</a:t>
            </a:r>
            <a:endParaRPr sz="100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000">
                <a:solidFill>
                  <a:srgbClr val="3C3C41"/>
                </a:solidFill>
                <a:latin typeface="Mulish"/>
                <a:ea typeface="Mulish"/>
                <a:cs typeface="Mulish"/>
                <a:sym typeface="Mulish"/>
              </a:rPr>
              <a:t>Traditional ATS tools ask: "Does the resume contain the keyword?"</a:t>
            </a:r>
            <a:endParaRPr sz="100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000">
                <a:solidFill>
                  <a:srgbClr val="3C3C41"/>
                </a:solidFill>
                <a:latin typeface="Mulish"/>
                <a:ea typeface="Mulish"/>
                <a:cs typeface="Mulish"/>
                <a:sym typeface="Mulish"/>
              </a:rPr>
              <a:t>CareerLens asks: "Where is the proof?"</a:t>
            </a:r>
            <a:endParaRPr sz="100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000">
                <a:solidFill>
                  <a:srgbClr val="3C3C41"/>
                </a:solidFill>
                <a:latin typeface="Mulish"/>
                <a:ea typeface="Mulish"/>
                <a:cs typeface="Mulish"/>
                <a:sym typeface="Mulish"/>
              </a:rPr>
              <a:t>Over time, every analysis creates structured relationships between:</a:t>
            </a:r>
            <a:endParaRPr sz="100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000">
                <a:solidFill>
                  <a:srgbClr val="3C3C41"/>
                </a:solidFill>
                <a:latin typeface="Mulish"/>
                <a:ea typeface="Mulish"/>
                <a:cs typeface="Mulish"/>
                <a:sym typeface="Mulish"/>
              </a:rPr>
              <a:t>Student ↔ Skill ↔ Evidence ↔ Project ↔ Role ↔ Gap ↔ Action</a:t>
            </a:r>
            <a:endParaRPr sz="1000">
              <a:solidFill>
                <a:srgbClr val="3C3C41"/>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lang="en-US" sz="1000">
                <a:solidFill>
                  <a:srgbClr val="3C3C41"/>
                </a:solidFill>
                <a:latin typeface="Mulish"/>
                <a:ea typeface="Mulish"/>
                <a:cs typeface="Mulish"/>
                <a:sym typeface="Mulish"/>
              </a:rPr>
              <a:t>That data model becomes substantially harder to reproduce than a simple resume chatbot.</a:t>
            </a:r>
            <a:endParaRPr sz="1000">
              <a:solidFill>
                <a:srgbClr val="3C3C41"/>
              </a:solidFill>
              <a:latin typeface="Mulish"/>
              <a:ea typeface="Mulish"/>
              <a:cs typeface="Mulish"/>
              <a:sym typeface="Mulish"/>
            </a:endParaRPr>
          </a:p>
          <a:p>
            <a:pPr indent="0" lvl="0" marL="0" marR="0" rtl="0" algn="l">
              <a:spcBef>
                <a:spcPts val="400"/>
              </a:spcBef>
              <a:spcAft>
                <a:spcPts val="0"/>
              </a:spcAft>
              <a:buNone/>
            </a:pPr>
            <a:r>
              <a:t/>
            </a:r>
            <a:endParaRPr sz="1000">
              <a:solidFill>
                <a:srgbClr val="3C3C41"/>
              </a:solidFill>
              <a:latin typeface="Mulish"/>
              <a:ea typeface="Mulish"/>
              <a:cs typeface="Mulish"/>
              <a:sym typeface="Mulish"/>
            </a:endParaRPr>
          </a:p>
        </p:txBody>
      </p:sp>
      <p:sp>
        <p:nvSpPr>
          <p:cNvPr id="345" name="Google Shape;345;p7"/>
          <p:cNvSpPr/>
          <p:nvPr/>
        </p:nvSpPr>
        <p:spPr>
          <a:xfrm>
            <a:off x="1645920" y="4892040"/>
            <a:ext cx="9418200" cy="16458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p7"/>
          <p:cNvSpPr/>
          <p:nvPr/>
        </p:nvSpPr>
        <p:spPr>
          <a:xfrm>
            <a:off x="1965960" y="4764024"/>
            <a:ext cx="1600200" cy="255900"/>
          </a:xfrm>
          <a:prstGeom prst="roundRect">
            <a:avLst>
              <a:gd fmla="val 50000" name="adj"/>
            </a:avLst>
          </a:prstGeom>
          <a:solidFill>
            <a:srgbClr val="FD1485"/>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MOAT / DIFFERENTIATION</a:t>
            </a:r>
            <a:endParaRPr/>
          </a:p>
        </p:txBody>
      </p:sp>
      <p:sp>
        <p:nvSpPr>
          <p:cNvPr id="347" name="Google Shape;347;p7"/>
          <p:cNvSpPr txBox="1"/>
          <p:nvPr/>
        </p:nvSpPr>
        <p:spPr>
          <a:xfrm>
            <a:off x="1920240" y="5120640"/>
            <a:ext cx="8869800" cy="1169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FD1485"/>
                </a:solidFill>
                <a:latin typeface="Fjalla One"/>
                <a:ea typeface="Fjalla One"/>
                <a:cs typeface="Fjalla One"/>
                <a:sym typeface="Fjalla One"/>
              </a:rPr>
              <a:t>KEY DIFFERENCE</a:t>
            </a:r>
            <a:endParaRPr b="1" sz="1200">
              <a:solidFill>
                <a:srgbClr val="353334"/>
              </a:solidFill>
              <a:latin typeface="Fjalla One"/>
              <a:ea typeface="Fjalla One"/>
              <a:cs typeface="Fjalla One"/>
              <a:sym typeface="Fjalla One"/>
            </a:endParaRPr>
          </a:p>
          <a:p>
            <a:pPr indent="0" lvl="0" marL="0" marR="0" rtl="0" algn="l">
              <a:spcBef>
                <a:spcPts val="400"/>
              </a:spcBef>
              <a:spcAft>
                <a:spcPts val="0"/>
              </a:spcAft>
              <a:buNone/>
            </a:pPr>
            <a:r>
              <a:rPr b="1" lang="en-US" sz="1200">
                <a:solidFill>
                  <a:srgbClr val="353334"/>
                </a:solidFill>
                <a:latin typeface="Fjalla One"/>
                <a:ea typeface="Fjalla One"/>
                <a:cs typeface="Fjalla One"/>
                <a:sym typeface="Fjalla One"/>
              </a:rPr>
              <a:t>CareerLens doesn't measure how impressive a resume sounds. It measures how much of it can be proven — and tells the student exactly what to build next. </a:t>
            </a:r>
            <a:endParaRPr b="1" sz="1200">
              <a:solidFill>
                <a:srgbClr val="353334"/>
              </a:solidFill>
              <a:latin typeface="Fjalla One"/>
              <a:ea typeface="Fjalla One"/>
              <a:cs typeface="Fjalla One"/>
              <a:sym typeface="Fjalla One"/>
            </a:endParaRPr>
          </a:p>
          <a:p>
            <a:pPr indent="0" lvl="0" marL="0" rtl="0" algn="l">
              <a:spcBef>
                <a:spcPts val="400"/>
              </a:spcBef>
              <a:spcAft>
                <a:spcPts val="0"/>
              </a:spcAft>
              <a:buClr>
                <a:schemeClr val="dk1"/>
              </a:buClr>
              <a:buSzPts val="1100"/>
              <a:buFont typeface="Arial"/>
              <a:buNone/>
            </a:pPr>
            <a:r>
              <a:rPr b="1" lang="en-US" sz="1200">
                <a:solidFill>
                  <a:srgbClr val="353334"/>
                </a:solidFill>
                <a:latin typeface="Fjalla One"/>
                <a:ea typeface="Fjalla One"/>
                <a:cs typeface="Fjalla One"/>
                <a:sym typeface="Fjalla One"/>
              </a:rPr>
              <a:t>Others measure what your resume CLAIMS. CareerLens verifies what your profile can PROVE.</a:t>
            </a:r>
            <a:endParaRPr b="1" sz="1200">
              <a:solidFill>
                <a:srgbClr val="353334"/>
              </a:solidFill>
              <a:latin typeface="Fjalla One"/>
              <a:ea typeface="Fjalla One"/>
              <a:cs typeface="Fjalla One"/>
              <a:sym typeface="Fjalla One"/>
            </a:endParaRPr>
          </a:p>
          <a:p>
            <a:pPr indent="0" lvl="0" marL="0" rtl="0" algn="l">
              <a:spcBef>
                <a:spcPts val="400"/>
              </a:spcBef>
              <a:spcAft>
                <a:spcPts val="0"/>
              </a:spcAft>
              <a:buClr>
                <a:schemeClr val="dk1"/>
              </a:buClr>
              <a:buSzPts val="1100"/>
              <a:buFont typeface="Arial"/>
              <a:buNone/>
            </a:pPr>
            <a:r>
              <a:rPr b="1" lang="en-US" sz="1200">
                <a:solidFill>
                  <a:srgbClr val="353334"/>
                </a:solidFill>
                <a:latin typeface="Fjalla One"/>
                <a:ea typeface="Fjalla One"/>
                <a:cs typeface="Fjalla One"/>
                <a:sym typeface="Fjalla One"/>
              </a:rPr>
              <a:t>Then it turns PROOF → READINESS SCORE → ACTIONABLE SKILL GAPS.</a:t>
            </a:r>
            <a:endParaRPr b="1" sz="1200">
              <a:solidFill>
                <a:srgbClr val="353334"/>
              </a:solidFill>
              <a:latin typeface="Fjalla One"/>
              <a:ea typeface="Fjalla One"/>
              <a:cs typeface="Fjalla One"/>
              <a:sym typeface="Fjalla On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h84f0212a2b3d31d_9_22"/>
          <p:cNvSpPr/>
          <p:nvPr/>
        </p:nvSpPr>
        <p:spPr>
          <a:xfrm>
            <a:off x="150" y="70025"/>
            <a:ext cx="12191700" cy="6858000"/>
          </a:xfrm>
          <a:prstGeom prst="rect">
            <a:avLst/>
          </a:prstGeom>
          <a:solidFill>
            <a:srgbClr val="FFFFF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3" name="Google Shape;353;h84f0212a2b3d31d_9_22"/>
          <p:cNvSpPr/>
          <p:nvPr/>
        </p:nvSpPr>
        <p:spPr>
          <a:xfrm>
            <a:off x="-182880" y="1051560"/>
            <a:ext cx="1051500" cy="329100"/>
          </a:xfrm>
          <a:prstGeom prst="roundRect">
            <a:avLst>
              <a:gd fmla="val 50000" name="adj"/>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4" name="Google Shape;354;h84f0212a2b3d31d_9_22"/>
          <p:cNvSpPr/>
          <p:nvPr/>
        </p:nvSpPr>
        <p:spPr>
          <a:xfrm>
            <a:off x="-182880" y="1453896"/>
            <a:ext cx="1463100" cy="329100"/>
          </a:xfrm>
          <a:prstGeom prst="roundRect">
            <a:avLst>
              <a:gd fmla="val 50000" name="adj"/>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5" name="Google Shape;355;h84f0212a2b3d31d_9_22"/>
          <p:cNvSpPr/>
          <p:nvPr/>
        </p:nvSpPr>
        <p:spPr>
          <a:xfrm>
            <a:off x="-182880" y="1856232"/>
            <a:ext cx="1051500" cy="329100"/>
          </a:xfrm>
          <a:prstGeom prst="roundRect">
            <a:avLst>
              <a:gd fmla="val 50000" name="adj"/>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 name="Google Shape;356;h84f0212a2b3d31d_9_22"/>
          <p:cNvSpPr/>
          <p:nvPr/>
        </p:nvSpPr>
        <p:spPr>
          <a:xfrm>
            <a:off x="11521440" y="5486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 name="Google Shape;357;h84f0212a2b3d31d_9_22"/>
          <p:cNvSpPr/>
          <p:nvPr/>
        </p:nvSpPr>
        <p:spPr>
          <a:xfrm>
            <a:off x="11521440" y="7132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 name="Google Shape;358;h84f0212a2b3d31d_9_22"/>
          <p:cNvSpPr/>
          <p:nvPr/>
        </p:nvSpPr>
        <p:spPr>
          <a:xfrm>
            <a:off x="11521440" y="8778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 name="Google Shape;359;h84f0212a2b3d31d_9_22"/>
          <p:cNvSpPr/>
          <p:nvPr/>
        </p:nvSpPr>
        <p:spPr>
          <a:xfrm>
            <a:off x="11521440" y="10424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 name="Google Shape;360;h84f0212a2b3d31d_9_22"/>
          <p:cNvSpPr/>
          <p:nvPr/>
        </p:nvSpPr>
        <p:spPr>
          <a:xfrm>
            <a:off x="548640" y="5577840"/>
            <a:ext cx="219600" cy="1647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1" name="Google Shape;361;h84f0212a2b3d31d_9_22"/>
          <p:cNvSpPr/>
          <p:nvPr/>
        </p:nvSpPr>
        <p:spPr>
          <a:xfrm>
            <a:off x="548640" y="5742432"/>
            <a:ext cx="219600" cy="1647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2" name="Google Shape;362;h84f0212a2b3d31d_9_22"/>
          <p:cNvSpPr/>
          <p:nvPr/>
        </p:nvSpPr>
        <p:spPr>
          <a:xfrm>
            <a:off x="548640" y="5907024"/>
            <a:ext cx="219600" cy="164700"/>
          </a:xfrm>
          <a:prstGeom prst="rect">
            <a:avLst/>
          </a:prstGeom>
          <a:solidFill>
            <a:srgbClr val="FD148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 name="Google Shape;363;h84f0212a2b3d31d_9_22"/>
          <p:cNvSpPr/>
          <p:nvPr/>
        </p:nvSpPr>
        <p:spPr>
          <a:xfrm>
            <a:off x="548640" y="6071616"/>
            <a:ext cx="219600" cy="164700"/>
          </a:xfrm>
          <a:prstGeom prst="rect">
            <a:avLst/>
          </a:prstGeom>
          <a:solidFill>
            <a:srgbClr val="079ED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4" name="Google Shape;364;h84f0212a2b3d31d_9_22"/>
          <p:cNvSpPr/>
          <p:nvPr/>
        </p:nvSpPr>
        <p:spPr>
          <a:xfrm>
            <a:off x="11087100" y="5934075"/>
            <a:ext cx="3201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5" name="Google Shape;365;h84f0212a2b3d31d_9_22"/>
          <p:cNvSpPr/>
          <p:nvPr/>
        </p:nvSpPr>
        <p:spPr>
          <a:xfrm>
            <a:off x="11237595" y="5783580"/>
            <a:ext cx="19200" cy="3201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 name="Google Shape;366;h84f0212a2b3d31d_9_22"/>
          <p:cNvSpPr/>
          <p:nvPr/>
        </p:nvSpPr>
        <p:spPr>
          <a:xfrm>
            <a:off x="11192256" y="5888736"/>
            <a:ext cx="109800" cy="109800"/>
          </a:xfrm>
          <a:prstGeom prst="rect">
            <a:avLst/>
          </a:prstGeom>
          <a:solidFill>
            <a:srgbClr val="FFB90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 name="Google Shape;367;h84f0212a2b3d31d_9_22"/>
          <p:cNvSpPr/>
          <p:nvPr/>
        </p:nvSpPr>
        <p:spPr>
          <a:xfrm>
            <a:off x="8412480" y="640080"/>
            <a:ext cx="1005900" cy="822900"/>
          </a:xfrm>
          <a:prstGeom prst="arc">
            <a:avLst>
              <a:gd fmla="val 16200000" name="adj1"/>
              <a:gd fmla="val 0" name="adj2"/>
            </a:avLst>
          </a:prstGeom>
          <a:noFill/>
          <a:ln cap="flat" cmpd="sng" w="19050">
            <a:solidFill>
              <a:srgbClr val="079ED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 name="Google Shape;368;h84f0212a2b3d31d_9_22"/>
          <p:cNvSpPr/>
          <p:nvPr/>
        </p:nvSpPr>
        <p:spPr>
          <a:xfrm>
            <a:off x="8371332" y="101041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9" name="Google Shape;369;h84f0212a2b3d31d_9_22"/>
          <p:cNvSpPr/>
          <p:nvPr/>
        </p:nvSpPr>
        <p:spPr>
          <a:xfrm>
            <a:off x="9377172" y="598932"/>
            <a:ext cx="82200" cy="82200"/>
          </a:xfrm>
          <a:prstGeom prst="rect">
            <a:avLst/>
          </a:prstGeom>
          <a:solidFill>
            <a:srgbClr val="FFFFFF"/>
          </a:solidFill>
          <a:ln cap="flat" cmpd="sng" w="17775">
            <a:solidFill>
              <a:srgbClr val="FD148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 name="Google Shape;370;h84f0212a2b3d31d_9_22"/>
          <p:cNvSpPr txBox="1"/>
          <p:nvPr/>
        </p:nvSpPr>
        <p:spPr>
          <a:xfrm>
            <a:off x="1645920" y="384048"/>
            <a:ext cx="82296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353334"/>
                </a:solidFill>
                <a:latin typeface="Mulish"/>
                <a:ea typeface="Mulish"/>
                <a:cs typeface="Mulish"/>
                <a:sym typeface="Mulish"/>
              </a:rPr>
              <a:t>DATAQUEST 3.0  ·  ROUND 1</a:t>
            </a:r>
            <a:endParaRPr/>
          </a:p>
        </p:txBody>
      </p:sp>
      <p:sp>
        <p:nvSpPr>
          <p:cNvPr id="371" name="Google Shape;371;h84f0212a2b3d31d_9_22"/>
          <p:cNvSpPr txBox="1"/>
          <p:nvPr/>
        </p:nvSpPr>
        <p:spPr>
          <a:xfrm>
            <a:off x="1645920" y="621792"/>
            <a:ext cx="9144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FD1485"/>
                </a:solidFill>
                <a:latin typeface="Fjalla One"/>
                <a:ea typeface="Fjalla One"/>
                <a:cs typeface="Fjalla One"/>
                <a:sym typeface="Fjalla One"/>
              </a:rPr>
              <a:t>08  </a:t>
            </a:r>
            <a:r>
              <a:rPr b="1" lang="en-US" sz="3200">
                <a:solidFill>
                  <a:srgbClr val="353334"/>
                </a:solidFill>
                <a:latin typeface="Fjalla One"/>
                <a:ea typeface="Fjalla One"/>
                <a:cs typeface="Fjalla One"/>
                <a:sym typeface="Fjalla One"/>
              </a:rPr>
              <a:t>TRUST LAYER</a:t>
            </a:r>
            <a:endParaRPr/>
          </a:p>
        </p:txBody>
      </p:sp>
      <p:sp>
        <p:nvSpPr>
          <p:cNvPr id="372" name="Google Shape;372;h84f0212a2b3d31d_9_22"/>
          <p:cNvSpPr/>
          <p:nvPr/>
        </p:nvSpPr>
        <p:spPr>
          <a:xfrm>
            <a:off x="1645920" y="1444752"/>
            <a:ext cx="9418200" cy="19200"/>
          </a:xfrm>
          <a:prstGeom prst="rect">
            <a:avLst/>
          </a:prstGeom>
          <a:solidFill>
            <a:srgbClr val="35333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3" name="Google Shape;373;h84f0212a2b3d31d_9_22"/>
          <p:cNvSpPr txBox="1"/>
          <p:nvPr/>
        </p:nvSpPr>
        <p:spPr>
          <a:xfrm>
            <a:off x="1645920" y="1517904"/>
            <a:ext cx="9418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374" name="Google Shape;374;h84f0212a2b3d31d_9_22"/>
          <p:cNvSpPr/>
          <p:nvPr/>
        </p:nvSpPr>
        <p:spPr>
          <a:xfrm>
            <a:off x="1645920" y="2011680"/>
            <a:ext cx="9418200" cy="18288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5" name="Google Shape;375;h84f0212a2b3d31d_9_22"/>
          <p:cNvSpPr/>
          <p:nvPr/>
        </p:nvSpPr>
        <p:spPr>
          <a:xfrm>
            <a:off x="1965949" y="1883678"/>
            <a:ext cx="1820100" cy="329100"/>
          </a:xfrm>
          <a:prstGeom prst="roundRect">
            <a:avLst>
              <a:gd fmla="val 50000" name="adj"/>
            </a:avLst>
          </a:prstGeom>
          <a:solidFill>
            <a:srgbClr val="FD1485"/>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EVIDENCE-BACKED SCORING</a:t>
            </a:r>
            <a:endParaRPr/>
          </a:p>
        </p:txBody>
      </p:sp>
      <p:sp>
        <p:nvSpPr>
          <p:cNvPr id="376" name="Google Shape;376;h84f0212a2b3d31d_9_22"/>
          <p:cNvSpPr txBox="1"/>
          <p:nvPr/>
        </p:nvSpPr>
        <p:spPr>
          <a:xfrm>
            <a:off x="1828790" y="2405998"/>
            <a:ext cx="41148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500">
                <a:solidFill>
                  <a:srgbClr val="FD1485"/>
                </a:solidFill>
                <a:latin typeface="Fjalla One"/>
                <a:ea typeface="Fjalla One"/>
                <a:cs typeface="Fjalla One"/>
                <a:sym typeface="Fjalla One"/>
              </a:rPr>
              <a:t>CLAIM → EVIDENCE → VERIFICATION → SCORE</a:t>
            </a:r>
            <a:endParaRPr sz="100"/>
          </a:p>
        </p:txBody>
      </p:sp>
      <p:sp>
        <p:nvSpPr>
          <p:cNvPr id="377" name="Google Shape;377;h84f0212a2b3d31d_9_22"/>
          <p:cNvSpPr txBox="1"/>
          <p:nvPr/>
        </p:nvSpPr>
        <p:spPr>
          <a:xfrm>
            <a:off x="6217920" y="2286000"/>
            <a:ext cx="4572000" cy="93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53334"/>
                </a:solidFill>
                <a:latin typeface="Fjalla One"/>
                <a:ea typeface="Fjalla One"/>
                <a:cs typeface="Fjalla One"/>
                <a:sym typeface="Fjalla One"/>
              </a:rPr>
              <a:t>HOW IT WORKS:</a:t>
            </a:r>
            <a:endParaRPr/>
          </a:p>
          <a:p>
            <a:pPr indent="0" lvl="0" marL="0" marR="0" rtl="0" algn="l">
              <a:spcBef>
                <a:spcPts val="300"/>
              </a:spcBef>
              <a:spcAft>
                <a:spcPts val="0"/>
              </a:spcAft>
              <a:buNone/>
            </a:pPr>
            <a:r>
              <a:rPr lang="en-US" sz="1000">
                <a:solidFill>
                  <a:srgbClr val="3C3C41"/>
                </a:solidFill>
                <a:latin typeface="Mulish"/>
                <a:ea typeface="Mulish"/>
                <a:cs typeface="Mulish"/>
                <a:sym typeface="Mulish"/>
              </a:rPr>
              <a:t>CareerLens extracts skill claims from the resume and checks them against observable evidence from GitHub, projects and portfolios. Each claim is classified as Verified, Partial or Unsupported before contributing to the readiness score.</a:t>
            </a:r>
            <a:endParaRPr>
              <a:latin typeface="Mulish"/>
              <a:ea typeface="Mulish"/>
              <a:cs typeface="Mulish"/>
              <a:sym typeface="Mulish"/>
            </a:endParaRPr>
          </a:p>
        </p:txBody>
      </p:sp>
      <p:sp>
        <p:nvSpPr>
          <p:cNvPr id="378" name="Google Shape;378;h84f0212a2b3d31d_9_22"/>
          <p:cNvSpPr/>
          <p:nvPr/>
        </p:nvSpPr>
        <p:spPr>
          <a:xfrm>
            <a:off x="1645920" y="4114800"/>
            <a:ext cx="2971800" cy="24231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9" name="Google Shape;379;h84f0212a2b3d31d_9_22"/>
          <p:cNvSpPr/>
          <p:nvPr/>
        </p:nvSpPr>
        <p:spPr>
          <a:xfrm>
            <a:off x="2115025" y="3878331"/>
            <a:ext cx="1671000" cy="427200"/>
          </a:xfrm>
          <a:prstGeom prst="roundRect">
            <a:avLst>
              <a:gd fmla="val 50000" name="adj"/>
            </a:avLst>
          </a:prstGeom>
          <a:solidFill>
            <a:srgbClr val="079ED2"/>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rgbClr val="FFFFFF"/>
                </a:solidFill>
                <a:latin typeface="Mulish"/>
                <a:ea typeface="Mulish"/>
                <a:cs typeface="Mulish"/>
                <a:sym typeface="Mulish"/>
              </a:rPr>
              <a:t>CLAIM–EVIDENCE TRACEABILITY</a:t>
            </a:r>
            <a:endParaRPr/>
          </a:p>
        </p:txBody>
      </p:sp>
      <p:sp>
        <p:nvSpPr>
          <p:cNvPr id="380" name="Google Shape;380;h84f0212a2b3d31d_9_22"/>
          <p:cNvSpPr txBox="1"/>
          <p:nvPr/>
        </p:nvSpPr>
        <p:spPr>
          <a:xfrm>
            <a:off x="1828800" y="4343400"/>
            <a:ext cx="2606100" cy="2001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rgbClr val="353334"/>
                </a:solidFill>
                <a:latin typeface="Fjalla One"/>
                <a:ea typeface="Fjalla One"/>
                <a:cs typeface="Fjalla One"/>
                <a:sym typeface="Fjalla One"/>
              </a:rPr>
              <a:t>Every score is linked to the evidence behind it.</a:t>
            </a:r>
            <a:endParaRPr b="1" sz="1100">
              <a:solidFill>
                <a:srgbClr val="353334"/>
              </a:solidFill>
              <a:latin typeface="Fjalla One"/>
              <a:ea typeface="Fjalla One"/>
              <a:cs typeface="Fjalla One"/>
              <a:sym typeface="Fjalla One"/>
            </a:endParaRPr>
          </a:p>
          <a:p>
            <a:pPr indent="0" lvl="0" marL="0" rtl="0" algn="l">
              <a:lnSpc>
                <a:spcPct val="115000"/>
              </a:lnSpc>
              <a:spcBef>
                <a:spcPts val="1200"/>
              </a:spcBef>
              <a:spcAft>
                <a:spcPts val="0"/>
              </a:spcAft>
              <a:buClr>
                <a:schemeClr val="dk1"/>
              </a:buClr>
              <a:buSzPts val="1100"/>
              <a:buFont typeface="Arial"/>
              <a:buNone/>
            </a:pPr>
            <a:r>
              <a:rPr lang="en-US" sz="900">
                <a:solidFill>
                  <a:srgbClr val="353334"/>
                </a:solidFill>
                <a:latin typeface="Mulish"/>
                <a:ea typeface="Mulish"/>
                <a:cs typeface="Mulish"/>
                <a:sym typeface="Mulish"/>
              </a:rPr>
              <a:t>Repository &amp; code evidence,Project implementation, Recency &amp; activity, Tests, CI/CD &amp; documentation</a:t>
            </a:r>
            <a:endParaRPr sz="900">
              <a:solidFill>
                <a:srgbClr val="353334"/>
              </a:solidFill>
              <a:latin typeface="Mulish"/>
              <a:ea typeface="Mulish"/>
              <a:cs typeface="Mulish"/>
              <a:sym typeface="Mulish"/>
            </a:endParaRPr>
          </a:p>
          <a:p>
            <a:pPr indent="0" lvl="0" marL="0" rtl="0" algn="l">
              <a:spcBef>
                <a:spcPts val="1200"/>
              </a:spcBef>
              <a:spcAft>
                <a:spcPts val="0"/>
              </a:spcAft>
              <a:buClr>
                <a:schemeClr val="dk1"/>
              </a:buClr>
              <a:buSzPts val="1100"/>
              <a:buFont typeface="Arial"/>
              <a:buNone/>
            </a:pPr>
            <a:r>
              <a:rPr b="1" lang="en-US" sz="1100">
                <a:solidFill>
                  <a:srgbClr val="353334"/>
                </a:solidFill>
                <a:latin typeface="Fjalla One"/>
                <a:ea typeface="Fjalla One"/>
                <a:cs typeface="Fjalla One"/>
                <a:sym typeface="Fjalla One"/>
              </a:rPr>
              <a:t>Result: </a:t>
            </a:r>
            <a:r>
              <a:rPr lang="en-US" sz="1100">
                <a:solidFill>
                  <a:srgbClr val="353334"/>
                </a:solidFill>
                <a:latin typeface="Fjalla One"/>
                <a:ea typeface="Fjalla One"/>
                <a:cs typeface="Fjalla One"/>
                <a:sym typeface="Fjalla One"/>
              </a:rPr>
              <a:t>“Why did I get this score?” is answerable.</a:t>
            </a:r>
            <a:endParaRPr sz="1100">
              <a:solidFill>
                <a:srgbClr val="353334"/>
              </a:solidFill>
              <a:latin typeface="Fjalla One"/>
              <a:ea typeface="Fjalla One"/>
              <a:cs typeface="Fjalla One"/>
              <a:sym typeface="Fjalla One"/>
            </a:endParaRPr>
          </a:p>
          <a:p>
            <a:pPr indent="0" lvl="0" marL="0" rtl="0" algn="l">
              <a:spcBef>
                <a:spcPts val="400"/>
              </a:spcBef>
              <a:spcAft>
                <a:spcPts val="0"/>
              </a:spcAft>
              <a:buClr>
                <a:schemeClr val="dk1"/>
              </a:buClr>
              <a:buSzPts val="1100"/>
              <a:buFont typeface="Arial"/>
              <a:buNone/>
            </a:pPr>
            <a:r>
              <a:t/>
            </a:r>
            <a:endParaRPr sz="950">
              <a:solidFill>
                <a:srgbClr val="3C3C41"/>
              </a:solidFill>
              <a:latin typeface="Mulish"/>
              <a:ea typeface="Mulish"/>
              <a:cs typeface="Mulish"/>
              <a:sym typeface="Mulish"/>
            </a:endParaRPr>
          </a:p>
          <a:p>
            <a:pPr indent="0" lvl="0" marL="0" marR="0" rtl="0" algn="l">
              <a:spcBef>
                <a:spcPts val="400"/>
              </a:spcBef>
              <a:spcAft>
                <a:spcPts val="0"/>
              </a:spcAft>
              <a:buNone/>
            </a:pPr>
            <a:r>
              <a:t/>
            </a:r>
            <a:endParaRPr sz="950">
              <a:solidFill>
                <a:srgbClr val="3C3C41"/>
              </a:solidFill>
              <a:latin typeface="Mulish"/>
              <a:ea typeface="Mulish"/>
              <a:cs typeface="Mulish"/>
              <a:sym typeface="Mulish"/>
            </a:endParaRPr>
          </a:p>
        </p:txBody>
      </p:sp>
      <p:sp>
        <p:nvSpPr>
          <p:cNvPr id="381" name="Google Shape;381;h84f0212a2b3d31d_9_22"/>
          <p:cNvSpPr/>
          <p:nvPr/>
        </p:nvSpPr>
        <p:spPr>
          <a:xfrm>
            <a:off x="4864608" y="4114800"/>
            <a:ext cx="2971800" cy="24231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2" name="Google Shape;382;h84f0212a2b3d31d_9_22"/>
          <p:cNvSpPr/>
          <p:nvPr/>
        </p:nvSpPr>
        <p:spPr>
          <a:xfrm>
            <a:off x="5382425" y="3931888"/>
            <a:ext cx="1671000" cy="320100"/>
          </a:xfrm>
          <a:prstGeom prst="roundRect">
            <a:avLst>
              <a:gd fmla="val 50000" name="adj"/>
            </a:avLst>
          </a:prstGeom>
          <a:solidFill>
            <a:srgbClr val="FFB903"/>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850">
                <a:solidFill>
                  <a:schemeClr val="lt1"/>
                </a:solidFill>
                <a:latin typeface="Mulish"/>
                <a:ea typeface="Mulish"/>
                <a:cs typeface="Mulish"/>
                <a:sym typeface="Mulish"/>
              </a:rPr>
              <a:t>DETERMINISTIC AI PIPELINE </a:t>
            </a:r>
            <a:endParaRPr>
              <a:solidFill>
                <a:schemeClr val="lt1"/>
              </a:solidFill>
            </a:endParaRPr>
          </a:p>
        </p:txBody>
      </p:sp>
      <p:sp>
        <p:nvSpPr>
          <p:cNvPr id="383" name="Google Shape;383;h84f0212a2b3d31d_9_22"/>
          <p:cNvSpPr txBox="1"/>
          <p:nvPr/>
        </p:nvSpPr>
        <p:spPr>
          <a:xfrm>
            <a:off x="5047488" y="4343400"/>
            <a:ext cx="2606100" cy="2444700"/>
          </a:xfrm>
          <a:prstGeom prst="rect">
            <a:avLst/>
          </a:prstGeom>
          <a:noFill/>
          <a:ln>
            <a:noFill/>
          </a:ln>
        </p:spPr>
        <p:txBody>
          <a:bodyPr anchorCtr="0" anchor="t" bIns="45700" lIns="91425" spcFirstLastPara="1" rIns="91425" wrap="square" tIns="45700">
            <a:spAutoFit/>
          </a:bodyPr>
          <a:lstStyle/>
          <a:p>
            <a:pPr indent="0" lvl="0" marL="0" rtl="0" algn="l">
              <a:spcBef>
                <a:spcPts val="400"/>
              </a:spcBef>
              <a:spcAft>
                <a:spcPts val="0"/>
              </a:spcAft>
              <a:buClr>
                <a:schemeClr val="dk1"/>
              </a:buClr>
              <a:buSzPts val="1100"/>
              <a:buFont typeface="Arial"/>
              <a:buNone/>
            </a:pPr>
            <a:r>
              <a:rPr b="1" lang="en-US" sz="900">
                <a:solidFill>
                  <a:srgbClr val="353334"/>
                </a:solidFill>
                <a:latin typeface="Mulish"/>
                <a:ea typeface="Mulish"/>
                <a:cs typeface="Mulish"/>
                <a:sym typeface="Mulish"/>
              </a:rPr>
              <a:t>LLM: extracts claims, skills &amp; projects</a:t>
            </a:r>
            <a:endParaRPr b="1" sz="900">
              <a:solidFill>
                <a:srgbClr val="353334"/>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t/>
            </a:r>
            <a:endParaRPr b="1" sz="900">
              <a:solidFill>
                <a:srgbClr val="353334"/>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b="1" lang="en-US" sz="900">
                <a:solidFill>
                  <a:srgbClr val="353334"/>
                </a:solidFill>
                <a:latin typeface="Mulish"/>
                <a:ea typeface="Mulish"/>
                <a:cs typeface="Mulish"/>
                <a:sym typeface="Mulish"/>
              </a:rPr>
              <a:t>Evidence Engine: validates observable signals</a:t>
            </a:r>
            <a:endParaRPr b="1" sz="900">
              <a:solidFill>
                <a:srgbClr val="353334"/>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t/>
            </a:r>
            <a:endParaRPr b="1" sz="900">
              <a:solidFill>
                <a:srgbClr val="353334"/>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b="1" lang="en-US" sz="900">
                <a:solidFill>
                  <a:srgbClr val="353334"/>
                </a:solidFill>
                <a:latin typeface="Mulish"/>
                <a:ea typeface="Mulish"/>
                <a:cs typeface="Mulish"/>
                <a:sym typeface="Mulish"/>
              </a:rPr>
              <a:t>Scoring Engine: calculates readiness</a:t>
            </a:r>
            <a:endParaRPr b="1" sz="900">
              <a:solidFill>
                <a:srgbClr val="353334"/>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t/>
            </a:r>
            <a:endParaRPr b="1" sz="900">
              <a:solidFill>
                <a:srgbClr val="353334"/>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b="1" lang="en-US" sz="900">
                <a:solidFill>
                  <a:srgbClr val="353334"/>
                </a:solidFill>
                <a:latin typeface="Mulish"/>
                <a:ea typeface="Mulish"/>
                <a:cs typeface="Mulish"/>
                <a:sym typeface="Mulish"/>
              </a:rPr>
              <a:t>LLM: explains results &amp; generates roadmap  </a:t>
            </a:r>
            <a:endParaRPr b="1" sz="900">
              <a:solidFill>
                <a:srgbClr val="353334"/>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t/>
            </a:r>
            <a:endParaRPr b="1" sz="900">
              <a:solidFill>
                <a:srgbClr val="353334"/>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rPr b="1" lang="en-US" sz="900">
                <a:solidFill>
                  <a:srgbClr val="353334"/>
                </a:solidFill>
                <a:latin typeface="Mulish"/>
                <a:ea typeface="Mulish"/>
                <a:cs typeface="Mulish"/>
                <a:sym typeface="Mulish"/>
              </a:rPr>
              <a:t>Key principle: AI interprets; evidence decides.</a:t>
            </a:r>
            <a:endParaRPr b="1" sz="900">
              <a:solidFill>
                <a:srgbClr val="353334"/>
              </a:solidFill>
              <a:latin typeface="Mulish"/>
              <a:ea typeface="Mulish"/>
              <a:cs typeface="Mulish"/>
              <a:sym typeface="Mulish"/>
            </a:endParaRPr>
          </a:p>
          <a:p>
            <a:pPr indent="0" lvl="0" marL="0" rtl="0" algn="l">
              <a:spcBef>
                <a:spcPts val="400"/>
              </a:spcBef>
              <a:spcAft>
                <a:spcPts val="0"/>
              </a:spcAft>
              <a:buClr>
                <a:schemeClr val="dk1"/>
              </a:buClr>
              <a:buSzPts val="1100"/>
              <a:buFont typeface="Arial"/>
              <a:buNone/>
            </a:pPr>
            <a:r>
              <a:t/>
            </a:r>
            <a:endParaRPr b="1" sz="1100">
              <a:solidFill>
                <a:srgbClr val="353334"/>
              </a:solidFill>
              <a:latin typeface="Fjalla One"/>
              <a:ea typeface="Fjalla One"/>
              <a:cs typeface="Fjalla One"/>
              <a:sym typeface="Fjalla One"/>
            </a:endParaRPr>
          </a:p>
          <a:p>
            <a:pPr indent="0" lvl="0" marL="0" marR="0" rtl="0" algn="l">
              <a:spcBef>
                <a:spcPts val="400"/>
              </a:spcBef>
              <a:spcAft>
                <a:spcPts val="0"/>
              </a:spcAft>
              <a:buNone/>
            </a:pPr>
            <a:r>
              <a:t/>
            </a:r>
            <a:endParaRPr sz="950">
              <a:solidFill>
                <a:srgbClr val="3C3C41"/>
              </a:solidFill>
              <a:latin typeface="Mulish"/>
              <a:ea typeface="Mulish"/>
              <a:cs typeface="Mulish"/>
              <a:sym typeface="Mulish"/>
            </a:endParaRPr>
          </a:p>
        </p:txBody>
      </p:sp>
      <p:sp>
        <p:nvSpPr>
          <p:cNvPr id="384" name="Google Shape;384;h84f0212a2b3d31d_9_22"/>
          <p:cNvSpPr/>
          <p:nvPr/>
        </p:nvSpPr>
        <p:spPr>
          <a:xfrm>
            <a:off x="8083296" y="4114800"/>
            <a:ext cx="2971800" cy="2423100"/>
          </a:xfrm>
          <a:prstGeom prst="roundRect">
            <a:avLst>
              <a:gd fmla="val 3500" name="adj"/>
            </a:avLst>
          </a:prstGeom>
          <a:solidFill>
            <a:srgbClr val="FFFFFF"/>
          </a:solidFill>
          <a:ln cap="flat" cmpd="sng" w="19050">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5" name="Google Shape;385;h84f0212a2b3d31d_9_22"/>
          <p:cNvSpPr/>
          <p:nvPr/>
        </p:nvSpPr>
        <p:spPr>
          <a:xfrm>
            <a:off x="8733700" y="3927388"/>
            <a:ext cx="1671000" cy="329100"/>
          </a:xfrm>
          <a:prstGeom prst="roundRect">
            <a:avLst>
              <a:gd fmla="val 50000" name="adj"/>
            </a:avLst>
          </a:prstGeom>
          <a:solidFill>
            <a:srgbClr val="353334"/>
          </a:solidFill>
          <a:ln cap="flat" cmpd="sng" w="15225">
            <a:solidFill>
              <a:srgbClr val="3533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ctr">
              <a:lnSpc>
                <a:spcPct val="115000"/>
              </a:lnSpc>
              <a:spcBef>
                <a:spcPts val="1200"/>
              </a:spcBef>
              <a:spcAft>
                <a:spcPts val="1200"/>
              </a:spcAft>
              <a:buSzPts val="1100"/>
              <a:buNone/>
            </a:pPr>
            <a:r>
              <a:rPr b="1" lang="en-US" sz="1100">
                <a:solidFill>
                  <a:schemeClr val="lt1"/>
                </a:solidFill>
              </a:rPr>
              <a:t>TRUST &amp; FAIRNESS</a:t>
            </a:r>
            <a:endParaRPr b="1" sz="1100">
              <a:solidFill>
                <a:schemeClr val="lt1"/>
              </a:solidFill>
            </a:endParaRPr>
          </a:p>
        </p:txBody>
      </p:sp>
      <p:sp>
        <p:nvSpPr>
          <p:cNvPr id="386" name="Google Shape;386;h84f0212a2b3d31d_9_22"/>
          <p:cNvSpPr txBox="1"/>
          <p:nvPr/>
        </p:nvSpPr>
        <p:spPr>
          <a:xfrm>
            <a:off x="8051100" y="4343425"/>
            <a:ext cx="2971800" cy="1974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US" sz="900">
                <a:solidFill>
                  <a:schemeClr val="dk1"/>
                </a:solidFill>
                <a:latin typeface="Mulish"/>
                <a:ea typeface="Mulish"/>
                <a:cs typeface="Mulish"/>
                <a:sym typeface="Mulish"/>
              </a:rPr>
              <a:t>Risks:</a:t>
            </a:r>
            <a:r>
              <a:rPr lang="en-US" sz="900">
                <a:solidFill>
                  <a:schemeClr val="dk1"/>
                </a:solidFill>
                <a:latin typeface="Mulish"/>
                <a:ea typeface="Mulish"/>
                <a:cs typeface="Mulish"/>
                <a:sym typeface="Mulish"/>
              </a:rPr>
              <a:t> Missing evidence • outdated profiles • score over-reliance</a:t>
            </a:r>
            <a:endParaRPr sz="900">
              <a:solidFill>
                <a:schemeClr val="dk1"/>
              </a:solidFill>
              <a:latin typeface="Mulish"/>
              <a:ea typeface="Mulish"/>
              <a:cs typeface="Mulish"/>
              <a:sym typeface="Mulish"/>
            </a:endParaRPr>
          </a:p>
          <a:p>
            <a:pPr indent="0" lvl="0" marL="0" rtl="0" algn="l">
              <a:lnSpc>
                <a:spcPct val="115000"/>
              </a:lnSpc>
              <a:spcBef>
                <a:spcPts val="1200"/>
              </a:spcBef>
              <a:spcAft>
                <a:spcPts val="0"/>
              </a:spcAft>
              <a:buSzPts val="1100"/>
              <a:buNone/>
            </a:pPr>
            <a:r>
              <a:rPr b="1" lang="en-US" sz="900">
                <a:solidFill>
                  <a:schemeClr val="dk1"/>
                </a:solidFill>
                <a:latin typeface="Mulish"/>
                <a:ea typeface="Mulish"/>
                <a:cs typeface="Mulish"/>
                <a:sym typeface="Mulish"/>
              </a:rPr>
              <a:t>Controls:</a:t>
            </a:r>
            <a:endParaRPr b="1" sz="900">
              <a:solidFill>
                <a:schemeClr val="dk1"/>
              </a:solidFill>
              <a:latin typeface="Mulish"/>
              <a:ea typeface="Mulish"/>
              <a:cs typeface="Mulish"/>
              <a:sym typeface="Mulish"/>
            </a:endParaRPr>
          </a:p>
          <a:p>
            <a:pPr indent="-285750" lvl="0" marL="457200" rtl="0" algn="l">
              <a:lnSpc>
                <a:spcPct val="115000"/>
              </a:lnSpc>
              <a:spcBef>
                <a:spcPts val="1200"/>
              </a:spcBef>
              <a:spcAft>
                <a:spcPts val="0"/>
              </a:spcAft>
              <a:buClr>
                <a:schemeClr val="dk1"/>
              </a:buClr>
              <a:buSzPts val="900"/>
              <a:buFont typeface="Mulish"/>
              <a:buChar char="●"/>
            </a:pPr>
            <a:r>
              <a:rPr lang="en-US" sz="900">
                <a:solidFill>
                  <a:schemeClr val="dk1"/>
                </a:solidFill>
                <a:latin typeface="Mulish"/>
                <a:ea typeface="Mulish"/>
                <a:cs typeface="Mulish"/>
                <a:sym typeface="Mulish"/>
              </a:rPr>
              <a:t>Confidence indicators</a:t>
            </a:r>
            <a:endParaRPr sz="900">
              <a:solidFill>
                <a:schemeClr val="dk1"/>
              </a:solidFill>
              <a:latin typeface="Mulish"/>
              <a:ea typeface="Mulish"/>
              <a:cs typeface="Mulish"/>
              <a:sym typeface="Mulish"/>
            </a:endParaRPr>
          </a:p>
          <a:p>
            <a:pPr indent="-285750" lvl="0" marL="457200" rtl="0" algn="l">
              <a:lnSpc>
                <a:spcPct val="115000"/>
              </a:lnSpc>
              <a:spcBef>
                <a:spcPts val="0"/>
              </a:spcBef>
              <a:spcAft>
                <a:spcPts val="0"/>
              </a:spcAft>
              <a:buClr>
                <a:schemeClr val="dk1"/>
              </a:buClr>
              <a:buSzPts val="900"/>
              <a:buFont typeface="Mulish"/>
              <a:buChar char="●"/>
            </a:pPr>
            <a:r>
              <a:rPr lang="en-US" sz="900">
                <a:solidFill>
                  <a:schemeClr val="dk1"/>
                </a:solidFill>
                <a:latin typeface="Mulish"/>
                <a:ea typeface="Mulish"/>
                <a:cs typeface="Mulish"/>
                <a:sym typeface="Mulish"/>
              </a:rPr>
              <a:t>Evidence traceability</a:t>
            </a:r>
            <a:endParaRPr sz="900">
              <a:solidFill>
                <a:schemeClr val="dk1"/>
              </a:solidFill>
              <a:latin typeface="Mulish"/>
              <a:ea typeface="Mulish"/>
              <a:cs typeface="Mulish"/>
              <a:sym typeface="Mulish"/>
            </a:endParaRPr>
          </a:p>
          <a:p>
            <a:pPr indent="-285750" lvl="0" marL="457200" rtl="0" algn="l">
              <a:lnSpc>
                <a:spcPct val="115000"/>
              </a:lnSpc>
              <a:spcBef>
                <a:spcPts val="0"/>
              </a:spcBef>
              <a:spcAft>
                <a:spcPts val="0"/>
              </a:spcAft>
              <a:buClr>
                <a:schemeClr val="dk1"/>
              </a:buClr>
              <a:buSzPts val="900"/>
              <a:buFont typeface="Mulish"/>
              <a:buChar char="●"/>
            </a:pPr>
            <a:r>
              <a:rPr lang="en-US" sz="900">
                <a:solidFill>
                  <a:schemeClr val="dk1"/>
                </a:solidFill>
                <a:latin typeface="Mulish"/>
                <a:ea typeface="Mulish"/>
                <a:cs typeface="Mulish"/>
                <a:sym typeface="Mulish"/>
              </a:rPr>
              <a:t>Explainable scoring</a:t>
            </a:r>
            <a:endParaRPr sz="900">
              <a:solidFill>
                <a:schemeClr val="dk1"/>
              </a:solidFill>
              <a:latin typeface="Mulish"/>
              <a:ea typeface="Mulish"/>
              <a:cs typeface="Mulish"/>
              <a:sym typeface="Mulish"/>
            </a:endParaRPr>
          </a:p>
          <a:p>
            <a:pPr indent="-285750" lvl="0" marL="457200" rtl="0" algn="l">
              <a:lnSpc>
                <a:spcPct val="115000"/>
              </a:lnSpc>
              <a:spcBef>
                <a:spcPts val="0"/>
              </a:spcBef>
              <a:spcAft>
                <a:spcPts val="0"/>
              </a:spcAft>
              <a:buClr>
                <a:schemeClr val="dk1"/>
              </a:buClr>
              <a:buSzPts val="900"/>
              <a:buFont typeface="Mulish"/>
              <a:buChar char="●"/>
            </a:pPr>
            <a:r>
              <a:rPr lang="en-US" sz="900">
                <a:solidFill>
                  <a:schemeClr val="dk1"/>
                </a:solidFill>
                <a:latin typeface="Mulish"/>
                <a:ea typeface="Mulish"/>
                <a:cs typeface="Mulish"/>
                <a:sym typeface="Mulish"/>
              </a:rPr>
              <a:t>Missing evidence ≠ no skill</a:t>
            </a:r>
            <a:endParaRPr sz="900">
              <a:solidFill>
                <a:schemeClr val="dk1"/>
              </a:solidFill>
              <a:latin typeface="Mulish"/>
              <a:ea typeface="Mulish"/>
              <a:cs typeface="Mulish"/>
              <a:sym typeface="Mulish"/>
            </a:endParaRPr>
          </a:p>
          <a:p>
            <a:pPr indent="-285750" lvl="0" marL="457200" rtl="0" algn="l">
              <a:lnSpc>
                <a:spcPct val="115000"/>
              </a:lnSpc>
              <a:spcBef>
                <a:spcPts val="0"/>
              </a:spcBef>
              <a:spcAft>
                <a:spcPts val="0"/>
              </a:spcAft>
              <a:buClr>
                <a:schemeClr val="dk1"/>
              </a:buClr>
              <a:buSzPts val="900"/>
              <a:buFont typeface="Mulish"/>
              <a:buChar char="●"/>
            </a:pPr>
            <a:r>
              <a:rPr lang="en-US" sz="900">
                <a:solidFill>
                  <a:schemeClr val="dk1"/>
                </a:solidFill>
                <a:latin typeface="Mulish"/>
                <a:ea typeface="Mulish"/>
                <a:cs typeface="Mulish"/>
                <a:sym typeface="Mulish"/>
              </a:rPr>
              <a:t>No identity-based scoring</a:t>
            </a:r>
            <a:endParaRPr sz="900">
              <a:solidFill>
                <a:schemeClr val="dk1"/>
              </a:solidFill>
              <a:latin typeface="Mulish"/>
              <a:ea typeface="Mulish"/>
              <a:cs typeface="Mulish"/>
              <a:sym typeface="Mulish"/>
            </a:endParaRPr>
          </a:p>
          <a:p>
            <a:pPr indent="0" lvl="0" marL="0" marR="0" rtl="0" algn="l">
              <a:spcBef>
                <a:spcPts val="1200"/>
              </a:spcBef>
              <a:spcAft>
                <a:spcPts val="0"/>
              </a:spcAft>
              <a:buNone/>
            </a:pPr>
            <a:r>
              <a:t/>
            </a:r>
            <a:endParaRPr sz="950">
              <a:solidFill>
                <a:srgbClr val="3C3C41"/>
              </a:solidFill>
              <a:latin typeface="Mulish"/>
              <a:ea typeface="Mulish"/>
              <a:cs typeface="Mulish"/>
              <a:sym typeface="Mulish"/>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